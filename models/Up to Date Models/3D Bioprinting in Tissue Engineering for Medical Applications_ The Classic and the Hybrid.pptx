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Nunito"/>
      <p:regular r:id="rId32"/>
      <p:bold r:id="rId33"/>
      <p:italic r:id="rId34"/>
      <p:boldItalic r:id="rId35"/>
    </p:embeddedFont>
    <p:embeddedFont>
      <p:font typeface="Maven Pro"/>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unito-bold.fntdata"/><Relationship Id="rId10" Type="http://schemas.openxmlformats.org/officeDocument/2006/relationships/slide" Target="slides/slide5.xml"/><Relationship Id="rId32" Type="http://schemas.openxmlformats.org/officeDocument/2006/relationships/font" Target="fonts/Nunito-regular.fntdata"/><Relationship Id="rId13" Type="http://schemas.openxmlformats.org/officeDocument/2006/relationships/slide" Target="slides/slide8.xml"/><Relationship Id="rId35" Type="http://schemas.openxmlformats.org/officeDocument/2006/relationships/font" Target="fonts/Nunito-boldItalic.fntdata"/><Relationship Id="rId12" Type="http://schemas.openxmlformats.org/officeDocument/2006/relationships/slide" Target="slides/slide7.xml"/><Relationship Id="rId34" Type="http://schemas.openxmlformats.org/officeDocument/2006/relationships/font" Target="fonts/Nunito-italic.fntdata"/><Relationship Id="rId15" Type="http://schemas.openxmlformats.org/officeDocument/2006/relationships/slide" Target="slides/slide10.xml"/><Relationship Id="rId37" Type="http://schemas.openxmlformats.org/officeDocument/2006/relationships/font" Target="fonts/MavenPro-bold.fntdata"/><Relationship Id="rId14" Type="http://schemas.openxmlformats.org/officeDocument/2006/relationships/slide" Target="slides/slide9.xml"/><Relationship Id="rId36" Type="http://schemas.openxmlformats.org/officeDocument/2006/relationships/font" Target="fonts/MavenPr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I’ll walk you through an overview of 3D bioprinting, including traditional and hybrid methods, focusing on their role in medical applications like tissue engineering and organ development. This is based on a review paper that synthesizes a broad body of existing research.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969a954e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969a954e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presentation is structured like a review, bringing together various bioprinting techniques, materials, and applications to understand where we are today and where the field is headed.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674a13be1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674a13be1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3D printing has roots in ancient techniques, but its modern evolution with stereolithography and other methods opened new doors, particularly in biomedical engineering.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74a13be1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674a13be1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Hybrid manufacturing aims to address the limitations of each approach by merging strengths — a concept we’ll revisit later in bioprinting.</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Char char="●"/>
            </a:pPr>
            <a:r>
              <a:rPr lang="en"/>
              <a:t>For a detailed review of hybrid additive and subtractive machining, </a:t>
            </a:r>
            <a:r>
              <a:rPr lang="en"/>
              <a:t>including</a:t>
            </a:r>
            <a:r>
              <a:rPr lang="en"/>
              <a:t> the combination of computer numerical control machining with arc or laser based directed energy deposition, with </a:t>
            </a:r>
            <a:r>
              <a:rPr lang="en"/>
              <a:t>additive</a:t>
            </a:r>
            <a:r>
              <a:rPr lang="en"/>
              <a:t> cold spraying </a:t>
            </a:r>
            <a:r>
              <a:rPr lang="en"/>
              <a:t>process, powder bed fusion, or material jetting. </a:t>
            </a:r>
            <a:endParaRPr/>
          </a:p>
          <a:p>
            <a:pPr indent="-298450" lvl="1" marL="914400" rtl="0" algn="l">
              <a:lnSpc>
                <a:spcPct val="115000"/>
              </a:lnSpc>
              <a:spcBef>
                <a:spcPts val="0"/>
              </a:spcBef>
              <a:spcAft>
                <a:spcPts val="0"/>
              </a:spcAft>
              <a:buSzPts val="1100"/>
              <a:buChar char="○"/>
            </a:pPr>
            <a:r>
              <a:rPr lang="en">
                <a:solidFill>
                  <a:schemeClr val="dk1"/>
                </a:solidFill>
              </a:rPr>
              <a:t>By combining the two, researchers can create scaffolds that are both </a:t>
            </a:r>
            <a:r>
              <a:rPr b="1" lang="en">
                <a:solidFill>
                  <a:schemeClr val="dk1"/>
                </a:solidFill>
              </a:rPr>
              <a:t>biologically realistic</a:t>
            </a:r>
            <a:r>
              <a:rPr lang="en">
                <a:solidFill>
                  <a:schemeClr val="dk1"/>
                </a:solidFill>
              </a:rPr>
              <a:t> and </a:t>
            </a:r>
            <a:r>
              <a:rPr b="1" lang="en">
                <a:solidFill>
                  <a:schemeClr val="dk1"/>
                </a:solidFill>
              </a:rPr>
              <a:t>structurally sound</a:t>
            </a:r>
            <a:r>
              <a:rPr lang="en">
                <a:solidFill>
                  <a:schemeClr val="dk1"/>
                </a:solidFill>
              </a:rPr>
              <a:t>, meeting clinical demands for functional tissue substitutes.</a:t>
            </a:r>
            <a:endParaRPr>
              <a:solidFill>
                <a:schemeClr val="dk1"/>
              </a:solidFill>
            </a:endParaRPr>
          </a:p>
          <a:p>
            <a:pPr indent="0" lvl="0" marL="91440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969a954eb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969a954eb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foundational workflow underlies both standard 3D printing and bioprinting.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969a954eb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969a954eb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While these additive manufacturing methods don’t print living cells, they are still incredibly important for medical applications such as prosthetics, surgical guides, and custom implants.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6969a954eb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6969a954eb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b="1" lang="en">
                <a:solidFill>
                  <a:schemeClr val="dk1"/>
                </a:solidFill>
              </a:rPr>
              <a:t>Fused Deposition Modeling (FDM)</a:t>
            </a:r>
            <a:r>
              <a:rPr lang="en">
                <a:solidFill>
                  <a:schemeClr val="dk1"/>
                </a:solidFill>
              </a:rPr>
              <a:t> is the most widely used AM technique. It works by heating and extruding a continuous filament of thermoplastic material onto a build plate, where it solidifies as it cools.</a:t>
            </a:r>
            <a:br>
              <a:rPr lang="en">
                <a:solidFill>
                  <a:schemeClr val="dk1"/>
                </a:solidFill>
              </a:rPr>
            </a:br>
            <a:r>
              <a:rPr lang="en">
                <a:solidFill>
                  <a:schemeClr val="dk1"/>
                </a:solidFill>
              </a:rPr>
              <a:t> FDM is affordable and accessible, but it's limited by the high temperatures required, which restricts material choice.</a:t>
            </a:r>
            <a:br>
              <a:rPr lang="en">
                <a:solidFill>
                  <a:schemeClr val="dk1"/>
                </a:solidFill>
              </a:rPr>
            </a:br>
            <a:r>
              <a:rPr lang="en">
                <a:solidFill>
                  <a:schemeClr val="dk1"/>
                </a:solidFill>
              </a:rPr>
              <a:t> Despite that, researchers have successfully printed bony scaffolds using polylactic acid (PLA) combined with hydroxyapatite (HA), achieving promising mechanical and biological properties. These scaffolds can even be customized with different porosity patterns and pore sizes.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Stereolithography (SLA)</a:t>
            </a:r>
            <a:r>
              <a:rPr lang="en">
                <a:solidFill>
                  <a:schemeClr val="dk1"/>
                </a:solidFill>
              </a:rPr>
              <a:t> has been around since 1986 and was the first rapid prototyping method.</a:t>
            </a:r>
            <a:br>
              <a:rPr lang="en">
                <a:solidFill>
                  <a:schemeClr val="dk1"/>
                </a:solidFill>
              </a:rPr>
            </a:br>
            <a:r>
              <a:rPr lang="en">
                <a:solidFill>
                  <a:schemeClr val="dk1"/>
                </a:solidFill>
              </a:rPr>
              <a:t> It uses ultraviolet (UV) light or an electron beam to solidify layers of a photosensitive resin. Each layer is cured individually, then the build platform rises for the next resin layer to be cured on top. Once the print is complete, the excess resin is washed away.</a:t>
            </a:r>
            <a:br>
              <a:rPr lang="en">
                <a:solidFill>
                  <a:schemeClr val="dk1"/>
                </a:solidFill>
              </a:rPr>
            </a:br>
            <a:r>
              <a:rPr lang="en">
                <a:solidFill>
                  <a:schemeClr val="dk1"/>
                </a:solidFill>
              </a:rPr>
              <a:t> SLA is known for its extremely high resolution—it can create complex structures with internal geometries, and has achieved microfeatures as small as 0.6 micrometers.</a:t>
            </a:r>
            <a:br>
              <a:rPr lang="en">
                <a:solidFill>
                  <a:schemeClr val="dk1"/>
                </a:solidFill>
              </a:rPr>
            </a:br>
            <a:r>
              <a:rPr lang="en">
                <a:solidFill>
                  <a:schemeClr val="dk1"/>
                </a:solidFill>
              </a:rPr>
              <a:t> The main drawback is the limited number of biocompatible resins that work well with this process.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Selective Laser Sintering (SLS)</a:t>
            </a:r>
            <a:r>
              <a:rPr lang="en">
                <a:solidFill>
                  <a:schemeClr val="dk1"/>
                </a:solidFill>
              </a:rPr>
              <a:t> is a powder bed fusion process. A thin layer of powder—typically a metal or polymer—is spread across a platform. A laser selectively fuses the powder in a 2D pattern.</a:t>
            </a:r>
            <a:br>
              <a:rPr lang="en">
                <a:solidFill>
                  <a:schemeClr val="dk1"/>
                </a:solidFill>
              </a:rPr>
            </a:br>
            <a:r>
              <a:rPr lang="en">
                <a:solidFill>
                  <a:schemeClr val="dk1"/>
                </a:solidFill>
              </a:rPr>
              <a:t> This process repeats layer by layer until the object is fully built. The resolution and performance depend on several factors: powder size, laser speed, laser intensity, and beam diameter.</a:t>
            </a:r>
            <a:br>
              <a:rPr lang="en">
                <a:solidFill>
                  <a:schemeClr val="dk1"/>
                </a:solidFill>
              </a:rPr>
            </a:br>
            <a:r>
              <a:rPr lang="en">
                <a:solidFill>
                  <a:schemeClr val="dk1"/>
                </a:solidFill>
              </a:rPr>
              <a:t> SLS is excellent for producing strong, porous metallic implants that encourage bone growth and integration.</a:t>
            </a:r>
            <a:br>
              <a:rPr lang="en">
                <a:solidFill>
                  <a:schemeClr val="dk1"/>
                </a:solidFill>
              </a:rPr>
            </a:br>
            <a:r>
              <a:rPr lang="en">
                <a:solidFill>
                  <a:schemeClr val="dk1"/>
                </a:solidFill>
              </a:rPr>
              <a:t> However, it also suffers from limited material availability.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674a13be1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674a13be1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Bioprinting techniques vary widely in resolution, cell viability, cost, and the types of materials they can handle. Some are more suited for precision, while others excel in speed and affordability.</a:t>
            </a:r>
            <a:endParaRPr>
              <a:solidFill>
                <a:schemeClr val="dk1"/>
              </a:solidFill>
            </a:endParaRPr>
          </a:p>
          <a:p>
            <a:pPr indent="0" lvl="0" marL="45720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6969a954eb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6969a954eb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Inkjet Bioprinting</a:t>
            </a:r>
            <a:r>
              <a:rPr lang="en">
                <a:solidFill>
                  <a:schemeClr val="dk1"/>
                </a:solidFill>
              </a:rPr>
              <a:t> was the first technique developed. It uses </a:t>
            </a:r>
            <a:r>
              <a:rPr i="1" lang="en">
                <a:solidFill>
                  <a:schemeClr val="dk1"/>
                </a:solidFill>
              </a:rPr>
              <a:t>bioink</a:t>
            </a:r>
            <a:r>
              <a:rPr lang="en">
                <a:solidFill>
                  <a:schemeClr val="dk1"/>
                </a:solidFill>
              </a:rPr>
              <a:t>, typically a hydrogel pre-polymer solution containing encapsulated cells. The bioink is deposited onto a platform in droplets, layer by layer, forming precise patterns.</a:t>
            </a:r>
            <a:br>
              <a:rPr lang="en">
                <a:solidFill>
                  <a:schemeClr val="dk1"/>
                </a:solidFill>
              </a:rPr>
            </a:br>
            <a:r>
              <a:rPr lang="en">
                <a:solidFill>
                  <a:schemeClr val="dk1"/>
                </a:solidFill>
              </a:rPr>
              <a:t> There are two main methods of droplet generation: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One uses heat, which only slightly increases the temperature—safe enough not to damage cells.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other uses electrical actuators to break the bioink into droplets.</a:t>
            </a:r>
            <a:br>
              <a:rPr lang="en">
                <a:solidFill>
                  <a:schemeClr val="dk1"/>
                </a:solidFill>
              </a:rPr>
            </a:br>
            <a:endParaRPr>
              <a:solidFill>
                <a:schemeClr val="dk1"/>
              </a:solidFill>
            </a:endParaRPr>
          </a:p>
          <a:p>
            <a:pPr indent="0" lvl="0" marL="0" rtl="0" algn="l">
              <a:lnSpc>
                <a:spcPct val="115000"/>
              </a:lnSpc>
              <a:spcBef>
                <a:spcPts val="0"/>
              </a:spcBef>
              <a:spcAft>
                <a:spcPts val="0"/>
              </a:spcAft>
              <a:buNone/>
            </a:pPr>
            <a:r>
              <a:rPr lang="en">
                <a:solidFill>
                  <a:schemeClr val="dk1"/>
                </a:solidFill>
              </a:rPr>
              <a:t>Inkjet bioprinting is fast, low-cost, and highly accessible. In fact, a researcher named Orloff famously converted a standard office inkjet printer into a functional bioprinter.</a:t>
            </a:r>
            <a:br>
              <a:rPr lang="en">
                <a:solidFill>
                  <a:schemeClr val="dk1"/>
                </a:solidFill>
              </a:rPr>
            </a:br>
            <a:r>
              <a:rPr lang="en">
                <a:solidFill>
                  <a:schemeClr val="dk1"/>
                </a:solidFill>
              </a:rPr>
              <a:t>However, it has challenges, including droplet placement accuracy, nozzle clogging, and potential thermal stress on the cells.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Laser-Assisted Bioprinting (LAB)</a:t>
            </a:r>
            <a:r>
              <a:rPr lang="en">
                <a:solidFill>
                  <a:schemeClr val="dk1"/>
                </a:solidFill>
              </a:rPr>
              <a:t> doesn’t use a nozzle. Instead, it prints from a ribbon structure made up of two layers: a top metallic layer (usually titanium or gold) that absorbs laser energy, and a bottom layer containing the bioink.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When a laser pulse hits the ribbon, part of the absorbing layer vaporizes, pushing a small amount of bioink downward as a droplet.</a:t>
            </a:r>
            <a:endParaRPr>
              <a:solidFill>
                <a:schemeClr val="dk1"/>
              </a:solidFill>
            </a:endParaRPr>
          </a:p>
          <a:p>
            <a:pPr indent="0" lvl="0" marL="0" rtl="0" algn="l">
              <a:lnSpc>
                <a:spcPct val="115000"/>
              </a:lnSpc>
              <a:spcBef>
                <a:spcPts val="0"/>
              </a:spcBef>
              <a:spcAft>
                <a:spcPts val="0"/>
              </a:spcAft>
              <a:buNone/>
            </a:pPr>
            <a:r>
              <a:rPr lang="en">
                <a:solidFill>
                  <a:schemeClr val="dk1"/>
                </a:solidFill>
              </a:rPr>
              <a:t>The absence of a nozzle reduces clogging issues and allows the printing of a wider variety of materials.</a:t>
            </a:r>
            <a:br>
              <a:rPr lang="en">
                <a:solidFill>
                  <a:schemeClr val="dk1"/>
                </a:solidFill>
              </a:rPr>
            </a:br>
            <a:r>
              <a:rPr lang="en">
                <a:solidFill>
                  <a:schemeClr val="dk1"/>
                </a:solidFill>
              </a:rPr>
              <a:t>However, LAB requires time-consuming ribbon preparation, especially when multiple cell types are involved. Also, laser effects on cell health are still being studied, and accurate droplet placement can be difficult.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Extrusion Bioprinting</a:t>
            </a:r>
            <a:r>
              <a:rPr lang="en">
                <a:solidFill>
                  <a:schemeClr val="dk1"/>
                </a:solidFill>
              </a:rPr>
              <a:t> is currently the most economical and accessible bioprinting method, thanks to open-source projects like Fab@Home and RepRap.</a:t>
            </a:r>
            <a:br>
              <a:rPr lang="en">
                <a:solidFill>
                  <a:schemeClr val="dk1"/>
                </a:solidFill>
              </a:rPr>
            </a:br>
            <a:r>
              <a:rPr lang="en">
                <a:solidFill>
                  <a:schemeClr val="dk1"/>
                </a:solidFill>
              </a:rPr>
              <a:t>Unlike inkjet, extrusion is a mechanical process where material is continuously pushed through a nozzle. This allows more accurate placement of the bioink, and the printed material can also act as structural support for subsequent layers.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Extrusion bioprinting is especially useful for building tissue scaffolds. However, cell viability remains a challenge, ranging from about 40% to 86%.</a:t>
            </a:r>
            <a:br>
              <a:rPr lang="en">
                <a:solidFill>
                  <a:schemeClr val="dk1"/>
                </a:solidFill>
              </a:rPr>
            </a:br>
            <a:r>
              <a:rPr lang="en">
                <a:solidFill>
                  <a:schemeClr val="dk1"/>
                </a:solidFill>
              </a:rPr>
              <a:t>It typically uses </a:t>
            </a:r>
            <a:r>
              <a:rPr b="1" lang="en">
                <a:solidFill>
                  <a:schemeClr val="dk1"/>
                </a:solidFill>
              </a:rPr>
              <a:t>hydrogels</a:t>
            </a:r>
            <a:r>
              <a:rPr lang="en">
                <a:solidFill>
                  <a:schemeClr val="dk1"/>
                </a:solidFill>
              </a:rPr>
              <a:t> as support material, which can later be dissolved or removed with suitable solutions after the bioprinting process is complete.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674a13be1d_0_1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674a13be1d_0_1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They don’t necessarily point out the best option so far, but it sounds like laser assisted is the best method so far, since it has the biggest cell viability, but since the effects of the laser </a:t>
            </a:r>
            <a:r>
              <a:rPr lang="en"/>
              <a:t>haven't</a:t>
            </a:r>
            <a:r>
              <a:rPr lang="en"/>
              <a:t> really been studied it is hard to say.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74a13be1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74a13be1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Hybrid manufacturing is the fusion of </a:t>
            </a:r>
            <a:r>
              <a:rPr b="1" lang="en">
                <a:solidFill>
                  <a:schemeClr val="dk1"/>
                </a:solidFill>
              </a:rPr>
              <a:t>Additive Manufacturing (AM)</a:t>
            </a:r>
            <a:r>
              <a:rPr lang="en">
                <a:solidFill>
                  <a:schemeClr val="dk1"/>
                </a:solidFill>
              </a:rPr>
              <a:t>—which builds structures layer by layer—and </a:t>
            </a:r>
            <a:r>
              <a:rPr b="1" lang="en">
                <a:solidFill>
                  <a:schemeClr val="dk1"/>
                </a:solidFill>
              </a:rPr>
              <a:t>Conventional Manufacturing (CM)</a:t>
            </a:r>
            <a:r>
              <a:rPr lang="en">
                <a:solidFill>
                  <a:schemeClr val="dk1"/>
                </a:solidFill>
              </a:rPr>
              <a:t>, also known as subtractive manufacturing, which removes material to refine precision and surface quality.</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the metal industry, this integration is already used, often through </a:t>
            </a:r>
            <a:r>
              <a:rPr b="1" lang="en">
                <a:solidFill>
                  <a:schemeClr val="dk1"/>
                </a:solidFill>
              </a:rPr>
              <a:t>CNC machining</a:t>
            </a:r>
            <a:r>
              <a:rPr lang="en">
                <a:solidFill>
                  <a:schemeClr val="dk1"/>
                </a:solidFill>
              </a:rPr>
              <a:t> to post-process 3D-printed parts, improving surface finish and dimensional accuracy. More advanced systems now combine both processes </a:t>
            </a:r>
            <a:r>
              <a:rPr b="1" lang="en">
                <a:solidFill>
                  <a:schemeClr val="dk1"/>
                </a:solidFill>
              </a:rPr>
              <a:t>within a single machine</a:t>
            </a:r>
            <a:r>
              <a:rPr lang="en">
                <a:solidFill>
                  <a:schemeClr val="dk1"/>
                </a:solidFill>
              </a:rPr>
              <a:t>, bringing the spatial flexibility of AM together with the surface detail and speed of CM.</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same approach is now gaining traction in </a:t>
            </a:r>
            <a:r>
              <a:rPr b="1" lang="en">
                <a:solidFill>
                  <a:schemeClr val="dk1"/>
                </a:solidFill>
              </a:rPr>
              <a:t>tissue engineering</a:t>
            </a:r>
            <a:r>
              <a:rPr lang="en">
                <a:solidFill>
                  <a:schemeClr val="dk1"/>
                </a:solidFill>
              </a:rPr>
              <a:t>, particularly for scaffold fabrication. AM is excellent for building complex 3D shapes, but it struggles with </a:t>
            </a:r>
            <a:r>
              <a:rPr b="1" lang="en">
                <a:solidFill>
                  <a:schemeClr val="dk1"/>
                </a:solidFill>
              </a:rPr>
              <a:t>sub-micron resolution</a:t>
            </a:r>
            <a:r>
              <a:rPr lang="en">
                <a:solidFill>
                  <a:schemeClr val="dk1"/>
                </a:solidFill>
              </a:rPr>
              <a:t>, which is essential for mimicking the fine structures of natural </a:t>
            </a:r>
            <a:r>
              <a:rPr b="1" lang="en">
                <a:solidFill>
                  <a:schemeClr val="dk1"/>
                </a:solidFill>
              </a:rPr>
              <a:t>extracellular matrix (ECM)</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On the other hand, CM techniques—like </a:t>
            </a:r>
            <a:r>
              <a:rPr b="1" lang="en">
                <a:solidFill>
                  <a:schemeClr val="dk1"/>
                </a:solidFill>
              </a:rPr>
              <a:t>electrospinning, gas foaming, and freeze-drying</a:t>
            </a:r>
            <a:r>
              <a:rPr lang="en">
                <a:solidFill>
                  <a:schemeClr val="dk1"/>
                </a:solidFill>
              </a:rPr>
              <a:t>—can produce these micro- and nano-scale textures, but they lack the control over </a:t>
            </a:r>
            <a:r>
              <a:rPr b="1" lang="en">
                <a:solidFill>
                  <a:schemeClr val="dk1"/>
                </a:solidFill>
              </a:rPr>
              <a:t>geometry, pore size</a:t>
            </a:r>
            <a:r>
              <a:rPr lang="en">
                <a:solidFill>
                  <a:schemeClr val="dk1"/>
                </a:solidFill>
              </a:rPr>
              <a:t>, and </a:t>
            </a:r>
            <a:r>
              <a:rPr b="1" lang="en">
                <a:solidFill>
                  <a:schemeClr val="dk1"/>
                </a:solidFill>
              </a:rPr>
              <a:t>connectivity</a:t>
            </a:r>
            <a:r>
              <a:rPr lang="en">
                <a:solidFill>
                  <a:schemeClr val="dk1"/>
                </a:solidFill>
              </a:rPr>
              <a:t> that AM offers.</a:t>
            </a:r>
            <a:endParaRPr b="1">
              <a:solidFill>
                <a:schemeClr val="dk1"/>
              </a:solidFill>
            </a:endParaRPr>
          </a:p>
          <a:p>
            <a:pPr indent="0" lvl="0" marL="914400" rtl="0" algn="l">
              <a:lnSpc>
                <a:spcPct val="115000"/>
              </a:lnSpc>
              <a:spcBef>
                <a:spcPts val="0"/>
              </a:spcBef>
              <a:spcAft>
                <a:spcPts val="0"/>
              </a:spcAft>
              <a:buNone/>
            </a:pPr>
            <a:r>
              <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Electrospinning </a:t>
            </a:r>
            <a:r>
              <a:rPr lang="en">
                <a:solidFill>
                  <a:schemeClr val="dk1"/>
                </a:solidFill>
              </a:rPr>
              <a:t>is a technique used to create scaffolds, particularly with micro- and nanoscale fibers, that can support cell growth and tissue regeneration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b="1" lang="en">
                <a:solidFill>
                  <a:schemeClr val="dk1"/>
                </a:solidFill>
              </a:rPr>
              <a:t>Electrospinning + Additive Manufacturing Integration</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Electrospun fibers provide enhanced </a:t>
            </a:r>
            <a:r>
              <a:rPr b="1" lang="en">
                <a:solidFill>
                  <a:schemeClr val="dk1"/>
                </a:solidFill>
              </a:rPr>
              <a:t>mechanical support</a:t>
            </a:r>
            <a:r>
              <a:rPr lang="en">
                <a:solidFill>
                  <a:schemeClr val="dk1"/>
                </a:solidFill>
              </a:rPr>
              <a:t> and closely mimic the structure of native ECM.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When combined with AM, they allow </a:t>
            </a:r>
            <a:r>
              <a:rPr b="1" lang="en">
                <a:solidFill>
                  <a:schemeClr val="dk1"/>
                </a:solidFill>
              </a:rPr>
              <a:t>precise control</a:t>
            </a:r>
            <a:r>
              <a:rPr lang="en">
                <a:solidFill>
                  <a:schemeClr val="dk1"/>
                </a:solidFill>
              </a:rPr>
              <a:t> over microstructure, external geometry, and pore size.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hybrid method supports </a:t>
            </a:r>
            <a:r>
              <a:rPr b="1" lang="en">
                <a:solidFill>
                  <a:schemeClr val="dk1"/>
                </a:solidFill>
              </a:rPr>
              <a:t>cell migration</a:t>
            </a:r>
            <a:r>
              <a:rPr lang="en">
                <a:solidFill>
                  <a:schemeClr val="dk1"/>
                </a:solidFill>
              </a:rPr>
              <a:t> and </a:t>
            </a:r>
            <a:r>
              <a:rPr b="1" lang="en">
                <a:solidFill>
                  <a:schemeClr val="dk1"/>
                </a:solidFill>
              </a:rPr>
              <a:t>engraftment</a:t>
            </a:r>
            <a:r>
              <a:rPr lang="en">
                <a:solidFill>
                  <a:schemeClr val="dk1"/>
                </a:solidFill>
              </a:rPr>
              <a:t> by creating interconnected porous environments.</a:t>
            </a:r>
            <a:br>
              <a:rPr lang="en">
                <a:solidFill>
                  <a:schemeClr val="dk1"/>
                </a:solidFill>
              </a:rPr>
            </a:b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Hybrid manufacturing can be integrated at different levels: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Assembly level</a:t>
            </a:r>
            <a:r>
              <a:rPr lang="en">
                <a:solidFill>
                  <a:schemeClr val="dk1"/>
                </a:solidFill>
              </a:rPr>
              <a:t> – combining parts made separately by AM and CM</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Fabrication level</a:t>
            </a:r>
            <a:r>
              <a:rPr lang="en">
                <a:solidFill>
                  <a:schemeClr val="dk1"/>
                </a:solidFill>
              </a:rPr>
              <a:t> – merging different scales into one scaffold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Technique level</a:t>
            </a:r>
            <a:r>
              <a:rPr lang="en">
                <a:solidFill>
                  <a:schemeClr val="dk1"/>
                </a:solidFill>
              </a:rPr>
              <a:t> – blending processes within one hybrid machine</a:t>
            </a:r>
            <a:endParaRPr>
              <a:solidFill>
                <a:schemeClr val="dk1"/>
              </a:solidFill>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6a10f75b3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6a10f75b3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Multiphasic scaffolds represent a highly advanced and functional approach in tissue engineering, particularly for regenerating </a:t>
            </a:r>
            <a:r>
              <a:rPr b="1" lang="en">
                <a:solidFill>
                  <a:schemeClr val="dk1"/>
                </a:solidFill>
              </a:rPr>
              <a:t>multiple types of tissues at once</a:t>
            </a:r>
            <a:r>
              <a:rPr lang="en">
                <a:solidFill>
                  <a:schemeClr val="dk1"/>
                </a:solidFill>
              </a:rPr>
              <a:t>, such as bone and ligament.</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scaffolds contain </a:t>
            </a:r>
            <a:r>
              <a:rPr b="1" lang="en">
                <a:solidFill>
                  <a:schemeClr val="dk1"/>
                </a:solidFill>
              </a:rPr>
              <a:t>distinct compartments</a:t>
            </a:r>
            <a:r>
              <a:rPr lang="en">
                <a:solidFill>
                  <a:schemeClr val="dk1"/>
                </a:solidFill>
              </a:rPr>
              <a:t>, each with unique topologies, materials, and cell compatibility, tailored to meet the mechanical and biological needs of specific tissues.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Typically, the </a:t>
            </a:r>
            <a:r>
              <a:rPr b="1" lang="en">
                <a:solidFill>
                  <a:schemeClr val="dk1"/>
                </a:solidFill>
              </a:rPr>
              <a:t>solid phase</a:t>
            </a:r>
            <a:r>
              <a:rPr lang="en">
                <a:solidFill>
                  <a:schemeClr val="dk1"/>
                </a:solidFill>
              </a:rPr>
              <a:t> is created via </a:t>
            </a:r>
            <a:r>
              <a:rPr b="1" lang="en">
                <a:solidFill>
                  <a:schemeClr val="dk1"/>
                </a:solidFill>
              </a:rPr>
              <a:t>Additive Manufacturing (AM)</a:t>
            </a:r>
            <a:r>
              <a:rPr lang="en">
                <a:solidFill>
                  <a:schemeClr val="dk1"/>
                </a:solidFill>
              </a:rPr>
              <a:t> for structural support, while the </a:t>
            </a:r>
            <a:r>
              <a:rPr b="1" lang="en">
                <a:solidFill>
                  <a:schemeClr val="dk1"/>
                </a:solidFill>
              </a:rPr>
              <a:t>soft phase</a:t>
            </a:r>
            <a:r>
              <a:rPr lang="en">
                <a:solidFill>
                  <a:schemeClr val="dk1"/>
                </a:solidFill>
              </a:rPr>
              <a:t>—which mimics the extracellular matrix (ECM)—is fabricated using </a:t>
            </a:r>
            <a:r>
              <a:rPr b="1" lang="en">
                <a:solidFill>
                  <a:schemeClr val="dk1"/>
                </a:solidFill>
              </a:rPr>
              <a:t>electrospinning (ES)</a:t>
            </a:r>
            <a:r>
              <a:rPr lang="en">
                <a:solidFill>
                  <a:schemeClr val="dk1"/>
                </a:solidFill>
              </a:rPr>
              <a:t>.</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One prominent example is from Vaquette et al., who created a </a:t>
            </a:r>
            <a:r>
              <a:rPr b="1" lang="en">
                <a:solidFill>
                  <a:schemeClr val="dk1"/>
                </a:solidFill>
              </a:rPr>
              <a:t>biphasic scaffold</a:t>
            </a:r>
            <a:r>
              <a:rPr lang="en">
                <a:solidFill>
                  <a:schemeClr val="dk1"/>
                </a:solidFill>
              </a:rPr>
              <a:t> to regenerate both alveolar bone and periodontal ligament. The AM component supported bone formation, while the ES membrane facilitated fibroblast attachment and ligament development. In animal trials, these constructs showed successful tissue integration and stability with no signs of inflammation.</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Another example by Saniei et al. shows how </a:t>
            </a:r>
            <a:r>
              <a:rPr b="1" lang="en">
                <a:solidFill>
                  <a:schemeClr val="dk1"/>
                </a:solidFill>
              </a:rPr>
              <a:t>FDM-printed implants</a:t>
            </a:r>
            <a:r>
              <a:rPr lang="en">
                <a:solidFill>
                  <a:schemeClr val="dk1"/>
                </a:solidFill>
              </a:rPr>
              <a:t> can be </a:t>
            </a:r>
            <a:r>
              <a:rPr b="1" lang="en">
                <a:solidFill>
                  <a:schemeClr val="dk1"/>
                </a:solidFill>
              </a:rPr>
              <a:t>coated with nanofibers</a:t>
            </a:r>
            <a:r>
              <a:rPr lang="en">
                <a:solidFill>
                  <a:schemeClr val="dk1"/>
                </a:solidFill>
              </a:rPr>
              <a:t> (using ES) to enhance surface biocompatibility. PLA screws coated with PVA-nHA fibers supported excellent cell growth—</a:t>
            </a:r>
            <a:r>
              <a:rPr b="1" lang="en">
                <a:solidFill>
                  <a:schemeClr val="dk1"/>
                </a:solidFill>
              </a:rPr>
              <a:t>over 90% viability</a:t>
            </a:r>
            <a:r>
              <a:rPr lang="en">
                <a:solidFill>
                  <a:schemeClr val="dk1"/>
                </a:solidFill>
              </a:rPr>
              <a:t> within a week.</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results highlight how </a:t>
            </a:r>
            <a:r>
              <a:rPr b="1" lang="en">
                <a:solidFill>
                  <a:schemeClr val="dk1"/>
                </a:solidFill>
              </a:rPr>
              <a:t>hybrid fabrication methods</a:t>
            </a:r>
            <a:r>
              <a:rPr lang="en">
                <a:solidFill>
                  <a:schemeClr val="dk1"/>
                </a:solidFill>
              </a:rPr>
              <a:t> are paving the way for creating </a:t>
            </a:r>
            <a:r>
              <a:rPr b="1" lang="en">
                <a:solidFill>
                  <a:schemeClr val="dk1"/>
                </a:solidFill>
              </a:rPr>
              <a:t>clinically viable, functionally layered tissue constructs</a:t>
            </a:r>
            <a:r>
              <a:rPr lang="en">
                <a:solidFill>
                  <a:schemeClr val="dk1"/>
                </a:solidFill>
              </a:rPr>
              <a:t> that better mimic the complexity of real biological systems.</a:t>
            </a:r>
            <a:endParaRPr>
              <a:solidFill>
                <a:schemeClr val="dk1"/>
              </a:solidFill>
            </a:endParaRPr>
          </a:p>
          <a:p>
            <a:pPr indent="0" lvl="0" marL="45720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6758d92e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6758d92e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lphaUcParenR"/>
            </a:pPr>
            <a:r>
              <a:rPr lang="en"/>
              <a:t>Demonstration</a:t>
            </a:r>
            <a:r>
              <a:rPr lang="en"/>
              <a:t> of the </a:t>
            </a:r>
            <a:r>
              <a:rPr lang="en"/>
              <a:t>assembling</a:t>
            </a:r>
            <a:r>
              <a:rPr lang="en"/>
              <a:t> a biphasic </a:t>
            </a:r>
            <a:r>
              <a:rPr lang="en"/>
              <a:t>scaffold</a:t>
            </a:r>
            <a:r>
              <a:rPr lang="en"/>
              <a:t> onto a dentin block</a:t>
            </a:r>
            <a:endParaRPr/>
          </a:p>
          <a:p>
            <a:pPr indent="-298450" lvl="0" marL="457200" rtl="0" algn="l">
              <a:spcBef>
                <a:spcPts val="0"/>
              </a:spcBef>
              <a:spcAft>
                <a:spcPts val="0"/>
              </a:spcAft>
              <a:buSzPts val="1100"/>
              <a:buAutoNum type="alphaUcParenR"/>
            </a:pPr>
            <a:r>
              <a:rPr lang="en"/>
              <a:t>Illustration of </a:t>
            </a:r>
            <a:r>
              <a:rPr lang="en"/>
              <a:t>subcutaneous</a:t>
            </a:r>
            <a:r>
              <a:rPr lang="en"/>
              <a:t> </a:t>
            </a:r>
            <a:r>
              <a:rPr lang="en"/>
              <a:t>implantation</a:t>
            </a:r>
            <a:r>
              <a:rPr lang="en"/>
              <a:t> in athymic rats</a:t>
            </a:r>
            <a:endParaRPr/>
          </a:p>
          <a:p>
            <a:pPr indent="-298450" lvl="0" marL="457200" rtl="0" algn="l">
              <a:spcBef>
                <a:spcPts val="0"/>
              </a:spcBef>
              <a:spcAft>
                <a:spcPts val="0"/>
              </a:spcAft>
              <a:buSzPts val="1100"/>
              <a:buAutoNum type="alphaUcParenR"/>
            </a:pPr>
            <a:r>
              <a:rPr lang="en"/>
              <a:t>The tissue integration results after 8 weeks after </a:t>
            </a:r>
            <a:r>
              <a:rPr lang="en"/>
              <a:t>implantation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6a10f75b3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6a10f75b3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One of the main challenges in 3D bioprinting is improving </a:t>
            </a:r>
            <a:r>
              <a:rPr b="1" lang="en">
                <a:solidFill>
                  <a:schemeClr val="dk1"/>
                </a:solidFill>
              </a:rPr>
              <a:t>cell seeding efficiency</a:t>
            </a:r>
            <a:r>
              <a:rPr lang="en">
                <a:solidFill>
                  <a:schemeClr val="dk1"/>
                </a:solidFill>
              </a:rPr>
              <a:t>, which is crucial for successful tissue regeneration. The relatively </a:t>
            </a:r>
            <a:r>
              <a:rPr b="1" lang="en">
                <a:solidFill>
                  <a:schemeClr val="dk1"/>
                </a:solidFill>
              </a:rPr>
              <a:t>low resolution of additive manufacturing (AM)</a:t>
            </a:r>
            <a:r>
              <a:rPr lang="en">
                <a:solidFill>
                  <a:schemeClr val="dk1"/>
                </a:solidFill>
              </a:rPr>
              <a:t> often limits the micro-scale cues that cells rely on for attachment and differentiation.</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 promising solution is </a:t>
            </a:r>
            <a:r>
              <a:rPr b="1" lang="en">
                <a:solidFill>
                  <a:schemeClr val="dk1"/>
                </a:solidFill>
              </a:rPr>
              <a:t>integrating high-resolution submicron structures</a:t>
            </a:r>
            <a:r>
              <a:rPr lang="en">
                <a:solidFill>
                  <a:schemeClr val="dk1"/>
                </a:solidFill>
              </a:rPr>
              <a:t> made by conventional manufacturing (CM)—like electrospun fibers—into the larger AM-printed scaffold. This </a:t>
            </a:r>
            <a:r>
              <a:rPr b="1" lang="en">
                <a:solidFill>
                  <a:schemeClr val="dk1"/>
                </a:solidFill>
              </a:rPr>
              <a:t>hybrid approach</a:t>
            </a:r>
            <a:r>
              <a:rPr lang="en">
                <a:solidFill>
                  <a:schemeClr val="dk1"/>
                </a:solidFill>
              </a:rPr>
              <a:t> provides mechanical support through AM while mimicking the native extracellular environment through CM.</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one notable study by L. Moroni et al., researchers alternated AM-printed macrofiber layers with </a:t>
            </a:r>
            <a:r>
              <a:rPr b="1" lang="en">
                <a:solidFill>
                  <a:schemeClr val="dk1"/>
                </a:solidFill>
              </a:rPr>
              <a:t>electrospun nanofiber layers</a:t>
            </a:r>
            <a:r>
              <a:rPr lang="en">
                <a:solidFill>
                  <a:schemeClr val="dk1"/>
                </a:solidFill>
              </a:rPr>
              <a:t>. The result was a scaffold with significantly improved biological performance. For example, glyco-samino-glycan (GAG) levels—a key indicator of cartilage formation—</a:t>
            </a:r>
            <a:r>
              <a:rPr b="1" lang="en">
                <a:solidFill>
                  <a:schemeClr val="dk1"/>
                </a:solidFill>
              </a:rPr>
              <a:t>doubled</a:t>
            </a:r>
            <a:r>
              <a:rPr lang="en">
                <a:solidFill>
                  <a:schemeClr val="dk1"/>
                </a:solidFill>
              </a:rPr>
              <a:t> in hybrid scaffolds compared to AM-only ones.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Another study embedded </a:t>
            </a:r>
            <a:r>
              <a:rPr b="1" lang="en">
                <a:solidFill>
                  <a:schemeClr val="dk1"/>
                </a:solidFill>
              </a:rPr>
              <a:t>aligned Poly-ca-prolactone (PCL) nanofibers</a:t>
            </a:r>
            <a:r>
              <a:rPr lang="en">
                <a:solidFill>
                  <a:schemeClr val="dk1"/>
                </a:solidFill>
              </a:rPr>
              <a:t> into FDM-printed Poly-lactic Acid (PLA) frames. These hybrid constructs enhanced </a:t>
            </a:r>
            <a:r>
              <a:rPr b="1" lang="en">
                <a:solidFill>
                  <a:schemeClr val="dk1"/>
                </a:solidFill>
              </a:rPr>
              <a:t>cell orientation</a:t>
            </a:r>
            <a:r>
              <a:rPr lang="en">
                <a:solidFill>
                  <a:schemeClr val="dk1"/>
                </a:solidFill>
              </a:rPr>
              <a:t>, </a:t>
            </a:r>
            <a:r>
              <a:rPr b="1" lang="en">
                <a:solidFill>
                  <a:schemeClr val="dk1"/>
                </a:solidFill>
              </a:rPr>
              <a:t>attachment</a:t>
            </a:r>
            <a:r>
              <a:rPr lang="en">
                <a:solidFill>
                  <a:schemeClr val="dk1"/>
                </a:solidFill>
              </a:rPr>
              <a:t>, and </a:t>
            </a:r>
            <a:r>
              <a:rPr b="1" lang="en">
                <a:solidFill>
                  <a:schemeClr val="dk1"/>
                </a:solidFill>
              </a:rPr>
              <a:t>mechanical properties</a:t>
            </a:r>
            <a:r>
              <a:rPr lang="en">
                <a:solidFill>
                  <a:schemeClr val="dk1"/>
                </a:solidFill>
              </a:rPr>
              <a:t>, demonstrating the ability to replicate native tissue structure and function.</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Additional methods like </a:t>
            </a:r>
            <a:r>
              <a:rPr b="1" lang="en">
                <a:solidFill>
                  <a:schemeClr val="dk1"/>
                </a:solidFill>
              </a:rPr>
              <a:t>freeze-drying</a:t>
            </a:r>
            <a:r>
              <a:rPr lang="en">
                <a:solidFill>
                  <a:schemeClr val="dk1"/>
                </a:solidFill>
              </a:rPr>
              <a:t> and </a:t>
            </a:r>
            <a:r>
              <a:rPr b="1" lang="en">
                <a:solidFill>
                  <a:schemeClr val="dk1"/>
                </a:solidFill>
              </a:rPr>
              <a:t>electrostatic self-assembly</a:t>
            </a:r>
            <a:r>
              <a:rPr lang="en">
                <a:solidFill>
                  <a:schemeClr val="dk1"/>
                </a:solidFill>
              </a:rPr>
              <a:t> have also been used to introduce more native-like microenvironments within AM frameworks. In some designs, </a:t>
            </a:r>
            <a:r>
              <a:rPr b="1" lang="en">
                <a:solidFill>
                  <a:schemeClr val="dk1"/>
                </a:solidFill>
              </a:rPr>
              <a:t>miniature AM-printed elements</a:t>
            </a:r>
            <a:r>
              <a:rPr lang="en">
                <a:solidFill>
                  <a:schemeClr val="dk1"/>
                </a:solidFill>
              </a:rPr>
              <a:t> were inserted into soft scaffolds for targeted structural support.</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Ultimately, these integrated techniques enable more </a:t>
            </a:r>
            <a:r>
              <a:rPr b="1" lang="en">
                <a:solidFill>
                  <a:schemeClr val="dk1"/>
                </a:solidFill>
              </a:rPr>
              <a:t>biomimetic tissue scaffolds</a:t>
            </a:r>
            <a:r>
              <a:rPr lang="en">
                <a:solidFill>
                  <a:schemeClr val="dk1"/>
                </a:solidFill>
              </a:rPr>
              <a:t> and open the door for more effective regenerative therapies.</a:t>
            </a:r>
            <a:endParaRPr>
              <a:solidFill>
                <a:schemeClr val="dk1"/>
              </a:solidFill>
            </a:endParaRPr>
          </a:p>
          <a:p>
            <a:pPr indent="0" lvl="0" marL="45720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6758d92e8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6758d92e8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lphaUcParenR"/>
            </a:pPr>
            <a:r>
              <a:rPr lang="en"/>
              <a:t>3D fiber decomposition (3DF) scaffolds - 160 microgram</a:t>
            </a:r>
            <a:endParaRPr/>
          </a:p>
          <a:p>
            <a:pPr indent="-298450" lvl="1" marL="914400" rtl="0" algn="l">
              <a:spcBef>
                <a:spcPts val="0"/>
              </a:spcBef>
              <a:spcAft>
                <a:spcPts val="0"/>
              </a:spcAft>
              <a:buSzPts val="1100"/>
              <a:buAutoNum type="alphaLcParenR"/>
            </a:pPr>
            <a:r>
              <a:rPr lang="en"/>
              <a:t>Samples prepared by extrusion based 3D bioprinting of microfibers using FDM prepared PLA frames (</a:t>
            </a:r>
            <a:r>
              <a:rPr lang="en">
                <a:solidFill>
                  <a:schemeClr val="dk1"/>
                </a:solidFill>
              </a:rPr>
              <a:t>polylactic acid)</a:t>
            </a:r>
            <a:endParaRPr/>
          </a:p>
          <a:p>
            <a:pPr indent="-298450" lvl="0" marL="457200" rtl="0" algn="l">
              <a:spcBef>
                <a:spcPts val="0"/>
              </a:spcBef>
              <a:spcAft>
                <a:spcPts val="0"/>
              </a:spcAft>
              <a:buSzPts val="1100"/>
              <a:buAutoNum type="alphaUcParenR"/>
            </a:pPr>
            <a:r>
              <a:rPr lang="en"/>
              <a:t>3D fiber decomposition and electrospun (3DFESP-30) scaffolds (</a:t>
            </a:r>
            <a:r>
              <a:rPr lang="en"/>
              <a:t>electrospinning</a:t>
            </a:r>
            <a:r>
              <a:rPr lang="en"/>
              <a:t> microfibers for 30 seconds between every two 3D fiber deposited layers) - 321 microgram</a:t>
            </a:r>
            <a:endParaRPr/>
          </a:p>
          <a:p>
            <a:pPr indent="-298450" lvl="1" marL="914400" rtl="0" algn="l">
              <a:spcBef>
                <a:spcPts val="0"/>
              </a:spcBef>
              <a:spcAft>
                <a:spcPts val="0"/>
              </a:spcAft>
              <a:buSzPts val="1100"/>
              <a:buAutoNum type="alphaLcParenR"/>
            </a:pPr>
            <a:r>
              <a:rPr lang="en"/>
              <a:t>A </a:t>
            </a:r>
            <a:r>
              <a:rPr lang="en"/>
              <a:t>hybrid</a:t>
            </a:r>
            <a:r>
              <a:rPr lang="en"/>
              <a:t> </a:t>
            </a:r>
            <a:r>
              <a:rPr lang="en"/>
              <a:t>scaffold</a:t>
            </a:r>
            <a:r>
              <a:rPr lang="en"/>
              <a:t> was fabricated by embedding electrosupn </a:t>
            </a:r>
            <a:r>
              <a:rPr lang="en"/>
              <a:t>aligned</a:t>
            </a:r>
            <a:r>
              <a:rPr lang="en"/>
              <a:t> polycaprolactone (PCL) nanofibers between FDM prepared PLA frames. </a:t>
            </a:r>
            <a:endParaRPr/>
          </a:p>
          <a:p>
            <a:pPr indent="-298450" lvl="0" marL="457200" rtl="0" algn="l">
              <a:spcBef>
                <a:spcPts val="0"/>
              </a:spcBef>
              <a:spcAft>
                <a:spcPts val="0"/>
              </a:spcAft>
              <a:buSzPts val="1100"/>
              <a:buAutoNum type="alphaUcParenR"/>
            </a:pPr>
            <a:r>
              <a:rPr lang="en"/>
              <a:t>3DFESP -2 scaffolds are the same method as B but spun for 2 minutes instead of 30 seconds and had - 316 micrograms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 indicates cartilage formation (GAG)</a:t>
            </a:r>
            <a:endParaRPr/>
          </a:p>
          <a:p>
            <a:pPr indent="-298450" lvl="0" marL="457200" rtl="0" algn="l">
              <a:spcBef>
                <a:spcPts val="0"/>
              </a:spcBef>
              <a:spcAft>
                <a:spcPts val="0"/>
              </a:spcAft>
              <a:buSzPts val="1100"/>
              <a:buChar char="●"/>
            </a:pPr>
            <a:r>
              <a:rPr lang="en"/>
              <a:t>3DF refers to macro fibers</a:t>
            </a:r>
            <a:endParaRPr/>
          </a:p>
          <a:p>
            <a:pPr indent="-298450" lvl="0" marL="457200" rtl="0" algn="l">
              <a:spcBef>
                <a:spcPts val="0"/>
              </a:spcBef>
              <a:spcAft>
                <a:spcPts val="0"/>
              </a:spcAft>
              <a:buSzPts val="1100"/>
              <a:buChar char="●"/>
            </a:pPr>
            <a:r>
              <a:rPr lang="en"/>
              <a:t>ESP refers to microfibers</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6a10f75b3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6a10f75b3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While additive manufacturing (AM) is powerful, it faces a key limitation: most methods </a:t>
            </a:r>
            <a:r>
              <a:rPr b="1" lang="en">
                <a:solidFill>
                  <a:schemeClr val="dk1"/>
                </a:solidFill>
              </a:rPr>
              <a:t>don’t support local-pore fabrication</a:t>
            </a:r>
            <a:r>
              <a:rPr lang="en">
                <a:solidFill>
                  <a:schemeClr val="dk1"/>
                </a:solidFill>
              </a:rPr>
              <a:t> or </a:t>
            </a:r>
            <a:r>
              <a:rPr b="1" lang="en">
                <a:solidFill>
                  <a:schemeClr val="dk1"/>
                </a:solidFill>
              </a:rPr>
              <a:t>standard porogen leaching</a:t>
            </a:r>
            <a:r>
              <a:rPr lang="en">
                <a:solidFill>
                  <a:schemeClr val="dk1"/>
                </a:solidFill>
              </a:rPr>
              <a:t>, which are critical for creating porous structures that mimic real tissue architecture.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 overcome this, researchers have developed </a:t>
            </a:r>
            <a:r>
              <a:rPr b="1" lang="en">
                <a:solidFill>
                  <a:schemeClr val="dk1"/>
                </a:solidFill>
              </a:rPr>
              <a:t>AM-compatible porogen systems</a:t>
            </a:r>
            <a:r>
              <a:rPr lang="en">
                <a:solidFill>
                  <a:schemeClr val="dk1"/>
                </a:solidFill>
              </a:rPr>
              <a:t> and </a:t>
            </a:r>
            <a:r>
              <a:rPr b="1" lang="en">
                <a:solidFill>
                  <a:schemeClr val="dk1"/>
                </a:solidFill>
              </a:rPr>
              <a:t>indirect AM techniques</a:t>
            </a:r>
            <a:r>
              <a:rPr lang="en">
                <a:solidFill>
                  <a:schemeClr val="dk1"/>
                </a:solidFill>
              </a:rPr>
              <a:t> that better support the formation of biomimetic porosity.</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 major innovation is the integration of </a:t>
            </a:r>
            <a:r>
              <a:rPr b="1" lang="en">
                <a:solidFill>
                  <a:schemeClr val="dk1"/>
                </a:solidFill>
              </a:rPr>
              <a:t>freeze-drying</a:t>
            </a:r>
            <a:r>
              <a:rPr lang="en">
                <a:solidFill>
                  <a:schemeClr val="dk1"/>
                </a:solidFill>
              </a:rPr>
              <a:t> with AM processes. This allows the simultaneous creation of both </a:t>
            </a:r>
            <a:r>
              <a:rPr b="1" lang="en">
                <a:solidFill>
                  <a:schemeClr val="dk1"/>
                </a:solidFill>
              </a:rPr>
              <a:t>micro- and submillimeter pores</a:t>
            </a:r>
            <a:r>
              <a:rPr lang="en">
                <a:solidFill>
                  <a:schemeClr val="dk1"/>
                </a:solidFill>
              </a:rPr>
              <a:t>, providing more surface area for </a:t>
            </a:r>
            <a:r>
              <a:rPr b="1" lang="en">
                <a:solidFill>
                  <a:schemeClr val="dk1"/>
                </a:solidFill>
              </a:rPr>
              <a:t>cell adhesion, migration, and nutrient exchange</a:t>
            </a:r>
            <a:r>
              <a:rPr lang="en">
                <a:solidFill>
                  <a:schemeClr val="dk1"/>
                </a:solidFill>
              </a:rPr>
              <a:t>.</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 notable example is from Yen et al., who used </a:t>
            </a:r>
            <a:r>
              <a:rPr b="1" lang="en">
                <a:solidFill>
                  <a:schemeClr val="dk1"/>
                </a:solidFill>
              </a:rPr>
              <a:t>liquid-frozen deposition manufacturing (LFDM)</a:t>
            </a:r>
            <a:r>
              <a:rPr lang="en">
                <a:solidFill>
                  <a:schemeClr val="dk1"/>
                </a:solidFill>
              </a:rPr>
              <a:t> to extrude PLGA solutions and control scaffold surface topology. Related methods like </a:t>
            </a:r>
            <a:r>
              <a:rPr b="1" lang="en">
                <a:solidFill>
                  <a:schemeClr val="dk1"/>
                </a:solidFill>
              </a:rPr>
              <a:t>LDM, RFP</a:t>
            </a:r>
            <a:r>
              <a:rPr lang="en">
                <a:solidFill>
                  <a:schemeClr val="dk1"/>
                </a:solidFill>
              </a:rPr>
              <a:t>, and </a:t>
            </a:r>
            <a:r>
              <a:rPr b="1" lang="en">
                <a:solidFill>
                  <a:schemeClr val="dk1"/>
                </a:solidFill>
              </a:rPr>
              <a:t>cryogenic direct-plotting</a:t>
            </a:r>
            <a:r>
              <a:rPr lang="en">
                <a:solidFill>
                  <a:schemeClr val="dk1"/>
                </a:solidFill>
              </a:rPr>
              <a:t> have also proven effective—especially in fabricating collagen scaffolds with over </a:t>
            </a:r>
            <a:r>
              <a:rPr b="1" lang="en">
                <a:solidFill>
                  <a:schemeClr val="dk1"/>
                </a:solidFill>
              </a:rPr>
              <a:t>96% porosity</a:t>
            </a:r>
            <a:r>
              <a:rPr lang="en">
                <a:solidFill>
                  <a:schemeClr val="dk1"/>
                </a:solidFill>
              </a:rPr>
              <a:t> and excellent </a:t>
            </a:r>
            <a:r>
              <a:rPr b="1" lang="en">
                <a:solidFill>
                  <a:schemeClr val="dk1"/>
                </a:solidFill>
              </a:rPr>
              <a:t>cell migration and differentiation</a:t>
            </a:r>
            <a:r>
              <a:rPr lang="en">
                <a:solidFill>
                  <a:schemeClr val="dk1"/>
                </a:solidFill>
              </a:rPr>
              <a:t>, verified by histological staining.</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Another innovation is the </a:t>
            </a:r>
            <a:r>
              <a:rPr b="1" lang="en">
                <a:solidFill>
                  <a:schemeClr val="dk1"/>
                </a:solidFill>
              </a:rPr>
              <a:t>computer-assisted wet spinning (CAWS)</a:t>
            </a:r>
            <a:r>
              <a:rPr lang="en">
                <a:solidFill>
                  <a:schemeClr val="dk1"/>
                </a:solidFill>
              </a:rPr>
              <a:t> method. It involves depositing polymers in a condensation bath, creating a </a:t>
            </a:r>
            <a:r>
              <a:rPr b="1" lang="en">
                <a:solidFill>
                  <a:schemeClr val="dk1"/>
                </a:solidFill>
              </a:rPr>
              <a:t>spongy structure via phase inversion</a:t>
            </a:r>
            <a:r>
              <a:rPr lang="en">
                <a:solidFill>
                  <a:schemeClr val="dk1"/>
                </a:solidFill>
              </a:rPr>
              <a:t>, which enhances biological performance.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Lastly, </a:t>
            </a:r>
            <a:r>
              <a:rPr b="1" lang="en">
                <a:solidFill>
                  <a:schemeClr val="dk1"/>
                </a:solidFill>
              </a:rPr>
              <a:t>melt electrospinning direct writing</a:t>
            </a:r>
            <a:r>
              <a:rPr lang="en">
                <a:solidFill>
                  <a:schemeClr val="dk1"/>
                </a:solidFill>
              </a:rPr>
              <a:t> merges high-resolution fiber control with AM, offering another pathway for custom scaffold design.</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advancements represent a crucial evolution in scaffold fabrication—enabling </a:t>
            </a:r>
            <a:r>
              <a:rPr b="1" lang="en">
                <a:solidFill>
                  <a:schemeClr val="dk1"/>
                </a:solidFill>
              </a:rPr>
              <a:t>precise control over porosity, structure, and biological functionality</a:t>
            </a:r>
            <a:r>
              <a:rPr lang="en">
                <a:solidFill>
                  <a:schemeClr val="dk1"/>
                </a:solidFill>
              </a:rPr>
              <a:t> essential for tissue engineering success.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6a10f75b3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6a10f75b3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lphaUcParenR"/>
            </a:pPr>
            <a:r>
              <a:rPr lang="en"/>
              <a:t>Optical image of a collagen scaffold after cell culturing with keratinocytes and fibroblasts</a:t>
            </a:r>
            <a:endParaRPr/>
          </a:p>
          <a:p>
            <a:pPr indent="-298450" lvl="0" marL="457200" rtl="0" algn="l">
              <a:spcBef>
                <a:spcPts val="0"/>
              </a:spcBef>
              <a:spcAft>
                <a:spcPts val="0"/>
              </a:spcAft>
              <a:buSzPts val="1100"/>
              <a:buAutoNum type="alphaUcParenR"/>
            </a:pPr>
            <a:r>
              <a:rPr lang="en"/>
              <a:t>Cross sections with hematoxylin and eosin staining (top) and immunohistochemical detection of cytokeratin (CK10) and (CK14) (middle), vimentin (bottom)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674a13be1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674a13be1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t>
            </a:r>
            <a:r>
              <a:rPr b="1" lang="en">
                <a:solidFill>
                  <a:schemeClr val="dk1"/>
                </a:solidFill>
              </a:rPr>
              <a:t>choice of material</a:t>
            </a:r>
            <a:r>
              <a:rPr lang="en">
                <a:solidFill>
                  <a:schemeClr val="dk1"/>
                </a:solidFill>
              </a:rPr>
              <a:t> in bioprinting is one of the most critical decisions—it directly affects printability, biological functionality, and overall success of the scaffold or tissue.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Key Material Considerations</a:t>
            </a:r>
            <a:endParaRPr b="1" sz="13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Printability</a:t>
            </a:r>
            <a:r>
              <a:rPr lang="en">
                <a:solidFill>
                  <a:schemeClr val="dk1"/>
                </a:solidFill>
              </a:rPr>
              <a:t>: How well a material can be deposited accurately and controllably. This varies depending on the printing technique—there’s no one-size-fits-all solution.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Thermal &amp; Mechanical Behavior</a:t>
            </a:r>
            <a:r>
              <a:rPr lang="en">
                <a:solidFill>
                  <a:schemeClr val="dk1"/>
                </a:solidFill>
              </a:rPr>
              <a:t>: Materials with </a:t>
            </a:r>
            <a:r>
              <a:rPr b="1" lang="en">
                <a:solidFill>
                  <a:schemeClr val="dk1"/>
                </a:solidFill>
              </a:rPr>
              <a:t>low thermal conductivity</a:t>
            </a:r>
            <a:r>
              <a:rPr lang="en">
                <a:solidFill>
                  <a:schemeClr val="dk1"/>
                </a:solidFill>
              </a:rPr>
              <a:t> and the ability to </a:t>
            </a:r>
            <a:r>
              <a:rPr b="1" lang="en">
                <a:solidFill>
                  <a:schemeClr val="dk1"/>
                </a:solidFill>
              </a:rPr>
              <a:t>cushion cells</a:t>
            </a:r>
            <a:r>
              <a:rPr lang="en">
                <a:solidFill>
                  <a:schemeClr val="dk1"/>
                </a:solidFill>
              </a:rPr>
              <a:t> during deposition help maintain </a:t>
            </a:r>
            <a:r>
              <a:rPr b="1" lang="en">
                <a:solidFill>
                  <a:schemeClr val="dk1"/>
                </a:solidFill>
              </a:rPr>
              <a:t>high cell viability</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Mechanical Properties</a:t>
            </a:r>
            <a:r>
              <a:rPr lang="en">
                <a:solidFill>
                  <a:schemeClr val="dk1"/>
                </a:solidFill>
              </a:rPr>
              <a:t>: Once printed, materials must support the 3D structure and withstand </a:t>
            </a:r>
            <a:r>
              <a:rPr b="1" lang="en">
                <a:solidFill>
                  <a:schemeClr val="dk1"/>
                </a:solidFill>
              </a:rPr>
              <a:t>vertical tension</a:t>
            </a:r>
            <a:r>
              <a:rPr lang="en">
                <a:solidFill>
                  <a:schemeClr val="dk1"/>
                </a:solidFill>
              </a:rPr>
              <a:t>. This is sometimes enhanced by </a:t>
            </a:r>
            <a:r>
              <a:rPr b="1" lang="en">
                <a:solidFill>
                  <a:schemeClr val="dk1"/>
                </a:solidFill>
              </a:rPr>
              <a:t>coating the substrate</a:t>
            </a:r>
            <a:r>
              <a:rPr lang="en">
                <a:solidFill>
                  <a:schemeClr val="dk1"/>
                </a:solidFill>
              </a:rPr>
              <a:t> with a supportive layer.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Biocompatibility</a:t>
            </a:r>
            <a:r>
              <a:rPr lang="en">
                <a:solidFill>
                  <a:schemeClr val="dk1"/>
                </a:solidFill>
              </a:rPr>
              <a:t>: The material must work </a:t>
            </a:r>
            <a:r>
              <a:rPr b="1" lang="en">
                <a:solidFill>
                  <a:schemeClr val="dk1"/>
                </a:solidFill>
              </a:rPr>
              <a:t>harmoniously with the host tissue</a:t>
            </a:r>
            <a:r>
              <a:rPr lang="en">
                <a:solidFill>
                  <a:schemeClr val="dk1"/>
                </a:solidFill>
              </a:rPr>
              <a:t>—it should degrade at a rate that matches the host’s ability to replace it with its own ECM proteins.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Materials should be </a:t>
            </a:r>
            <a:r>
              <a:rPr b="1" lang="en">
                <a:solidFill>
                  <a:schemeClr val="dk1"/>
                </a:solidFill>
              </a:rPr>
              <a:t>non-toxic</a:t>
            </a:r>
            <a:r>
              <a:rPr lang="en">
                <a:solidFill>
                  <a:schemeClr val="dk1"/>
                </a:solidFill>
              </a:rPr>
              <a:t>, </a:t>
            </a:r>
            <a:r>
              <a:rPr b="1" lang="en">
                <a:solidFill>
                  <a:schemeClr val="dk1"/>
                </a:solidFill>
              </a:rPr>
              <a:t>rapidly metabolized</a:t>
            </a:r>
            <a:r>
              <a:rPr lang="en">
                <a:solidFill>
                  <a:schemeClr val="dk1"/>
                </a:solidFill>
              </a:rPr>
              <a:t>, and </a:t>
            </a:r>
            <a:r>
              <a:rPr b="1" lang="en">
                <a:solidFill>
                  <a:schemeClr val="dk1"/>
                </a:solidFill>
              </a:rPr>
              <a:t>quickly cleared</a:t>
            </a:r>
            <a:r>
              <a:rPr lang="en">
                <a:solidFill>
                  <a:schemeClr val="dk1"/>
                </a:solidFill>
              </a:rPr>
              <a:t> from the body after performing their function.</a:t>
            </a:r>
            <a:br>
              <a:rPr lang="en">
                <a:solidFill>
                  <a:schemeClr val="dk1"/>
                </a:solidFill>
              </a:rPr>
            </a:b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Natural vs. Synthetic Materials</a:t>
            </a:r>
            <a:endParaRPr b="1" sz="13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Natural polymers</a:t>
            </a:r>
            <a:r>
              <a:rPr lang="en">
                <a:solidFill>
                  <a:schemeClr val="dk1"/>
                </a:solidFill>
              </a:rPr>
              <a:t> like </a:t>
            </a:r>
            <a:r>
              <a:rPr b="1" lang="en">
                <a:solidFill>
                  <a:schemeClr val="dk1"/>
                </a:solidFill>
              </a:rPr>
              <a:t>collagen, gelatin, laminin, fibronectin, alginate, chitosan, fibrin</a:t>
            </a:r>
            <a:r>
              <a:rPr lang="en">
                <a:solidFill>
                  <a:schemeClr val="dk1"/>
                </a:solidFill>
              </a:rPr>
              <a:t>, and </a:t>
            </a:r>
            <a:r>
              <a:rPr b="1" lang="en">
                <a:solidFill>
                  <a:schemeClr val="dk1"/>
                </a:solidFill>
              </a:rPr>
              <a:t>hyaluronic acid</a:t>
            </a:r>
            <a:r>
              <a:rPr lang="en">
                <a:solidFill>
                  <a:schemeClr val="dk1"/>
                </a:solidFill>
              </a:rPr>
              <a:t> offer </a:t>
            </a:r>
            <a:r>
              <a:rPr b="1" lang="en">
                <a:solidFill>
                  <a:schemeClr val="dk1"/>
                </a:solidFill>
              </a:rPr>
              <a:t>biological realism</a:t>
            </a:r>
            <a:r>
              <a:rPr lang="en">
                <a:solidFill>
                  <a:schemeClr val="dk1"/>
                </a:solidFill>
              </a:rPr>
              <a:t>. They mimic the </a:t>
            </a:r>
            <a:r>
              <a:rPr b="1" lang="en">
                <a:solidFill>
                  <a:schemeClr val="dk1"/>
                </a:solidFill>
              </a:rPr>
              <a:t>native extracellular matrix (ECM)</a:t>
            </a:r>
            <a:r>
              <a:rPr lang="en">
                <a:solidFill>
                  <a:schemeClr val="dk1"/>
                </a:solidFill>
              </a:rPr>
              <a:t> and are already well established in tissue engineering.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Synthetic polymers</a:t>
            </a:r>
            <a:r>
              <a:rPr lang="en">
                <a:solidFill>
                  <a:schemeClr val="dk1"/>
                </a:solidFill>
              </a:rPr>
              <a:t>, on the other hand, provide </a:t>
            </a:r>
            <a:r>
              <a:rPr b="1" lang="en">
                <a:solidFill>
                  <a:schemeClr val="dk1"/>
                </a:solidFill>
              </a:rPr>
              <a:t>greater control and customization</a:t>
            </a:r>
            <a:r>
              <a:rPr lang="en">
                <a:solidFill>
                  <a:schemeClr val="dk1"/>
                </a:solidFill>
              </a:rPr>
              <a:t>. They offer </a:t>
            </a:r>
            <a:r>
              <a:rPr b="1" lang="en">
                <a:solidFill>
                  <a:schemeClr val="dk1"/>
                </a:solidFill>
              </a:rPr>
              <a:t>precise printability</a:t>
            </a:r>
            <a:r>
              <a:rPr lang="en">
                <a:solidFill>
                  <a:schemeClr val="dk1"/>
                </a:solidFill>
              </a:rPr>
              <a:t> and can be engineered to meet specific needs. However, they’re not ideal for long-term cell viability.</a:t>
            </a:r>
            <a:br>
              <a:rPr lang="en">
                <a:solidFill>
                  <a:schemeClr val="dk1"/>
                </a:solidFill>
              </a:rPr>
            </a:b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Decellularized ECM (dECM)</a:t>
            </a:r>
            <a:endParaRPr b="1" sz="1300">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One especially promising natural material is </a:t>
            </a:r>
            <a:r>
              <a:rPr b="1" lang="en">
                <a:solidFill>
                  <a:schemeClr val="dk1"/>
                </a:solidFill>
              </a:rPr>
              <a:t>dECM</a:t>
            </a:r>
            <a:r>
              <a:rPr lang="en">
                <a:solidFill>
                  <a:schemeClr val="dk1"/>
                </a:solidFill>
              </a:rPr>
              <a:t>—decellularized extracellular matrix.</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retains important </a:t>
            </a:r>
            <a:r>
              <a:rPr b="1" lang="en">
                <a:solidFill>
                  <a:schemeClr val="dk1"/>
                </a:solidFill>
              </a:rPr>
              <a:t>biochemical cues</a:t>
            </a:r>
            <a:r>
              <a:rPr lang="en">
                <a:solidFill>
                  <a:schemeClr val="dk1"/>
                </a:solidFill>
              </a:rPr>
              <a:t> from real tissues, which can help guide </a:t>
            </a:r>
            <a:r>
              <a:rPr b="1" lang="en">
                <a:solidFill>
                  <a:schemeClr val="dk1"/>
                </a:solidFill>
              </a:rPr>
              <a:t>cell behavior</a:t>
            </a:r>
            <a:r>
              <a:rPr lang="en">
                <a:solidFill>
                  <a:schemeClr val="dk1"/>
                </a:solidFill>
              </a:rPr>
              <a:t>, </a:t>
            </a:r>
            <a:r>
              <a:rPr b="1" lang="en">
                <a:solidFill>
                  <a:schemeClr val="dk1"/>
                </a:solidFill>
              </a:rPr>
              <a:t>differentiation</a:t>
            </a:r>
            <a:r>
              <a:rPr lang="en">
                <a:solidFill>
                  <a:schemeClr val="dk1"/>
                </a:solidFill>
              </a:rPr>
              <a:t>, and </a:t>
            </a:r>
            <a:r>
              <a:rPr b="1" lang="en">
                <a:solidFill>
                  <a:schemeClr val="dk1"/>
                </a:solidFill>
              </a:rPr>
              <a:t>tissue regeneration</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dECM-based bioinks can be tailored for specific organs or tissues and better simulate native biological environments.</a:t>
            </a:r>
            <a:br>
              <a:rPr lang="en">
                <a:solidFill>
                  <a:schemeClr val="dk1"/>
                </a:solidFill>
              </a:rPr>
            </a:b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6758d92e80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6758d92e80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Cell Sources</a:t>
            </a:r>
            <a:endParaRPr b="1" sz="1300">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Multiple </a:t>
            </a:r>
            <a:r>
              <a:rPr b="1" lang="en">
                <a:solidFill>
                  <a:schemeClr val="dk1"/>
                </a:solidFill>
              </a:rPr>
              <a:t>cell types</a:t>
            </a:r>
            <a:r>
              <a:rPr lang="en">
                <a:solidFill>
                  <a:schemeClr val="dk1"/>
                </a:solidFill>
              </a:rPr>
              <a:t> are usually required during fabrication, each fulfilling </a:t>
            </a:r>
            <a:r>
              <a:rPr b="1" lang="en">
                <a:solidFill>
                  <a:schemeClr val="dk1"/>
                </a:solidFill>
              </a:rPr>
              <a:t>specific and essential biological functions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early stages, </a:t>
            </a:r>
            <a:r>
              <a:rPr b="1" lang="en">
                <a:solidFill>
                  <a:schemeClr val="dk1"/>
                </a:solidFill>
              </a:rPr>
              <a:t>high proliferation</a:t>
            </a:r>
            <a:r>
              <a:rPr lang="en">
                <a:solidFill>
                  <a:schemeClr val="dk1"/>
                </a:solidFill>
              </a:rPr>
              <a:t> is ideal to encourage tissue growth.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Over time, however, the goal is to achieve </a:t>
            </a:r>
            <a:r>
              <a:rPr b="1" lang="en">
                <a:solidFill>
                  <a:schemeClr val="dk1"/>
                </a:solidFill>
              </a:rPr>
              <a:t>homeostasis</a:t>
            </a:r>
            <a:r>
              <a:rPr lang="en">
                <a:solidFill>
                  <a:schemeClr val="dk1"/>
                </a:solidFill>
              </a:rPr>
              <a:t>—a balanced rate of proliferation to prevent uncontrolled growth (hyperplasia).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clinical use, </a:t>
            </a:r>
            <a:r>
              <a:rPr b="1" lang="en">
                <a:solidFill>
                  <a:schemeClr val="dk1"/>
                </a:solidFill>
              </a:rPr>
              <a:t>autologous cells</a:t>
            </a:r>
            <a:r>
              <a:rPr lang="en">
                <a:solidFill>
                  <a:schemeClr val="dk1"/>
                </a:solidFill>
              </a:rPr>
              <a:t>—those taken from the patient—are preferred to minimize </a:t>
            </a:r>
            <a:r>
              <a:rPr b="1" lang="en">
                <a:solidFill>
                  <a:schemeClr val="dk1"/>
                </a:solidFill>
              </a:rPr>
              <a:t>immune rejection risks</a:t>
            </a:r>
            <a:r>
              <a:rPr lang="en">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6758d92e8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6758d92e8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lphaUcParenR"/>
            </a:pPr>
            <a:r>
              <a:rPr lang="en"/>
              <a:t>Bioprinted heart tissue with only the heart dECM (hdECM)</a:t>
            </a:r>
            <a:endParaRPr/>
          </a:p>
          <a:p>
            <a:pPr indent="-298450" lvl="0" marL="457200" rtl="0" algn="l">
              <a:spcBef>
                <a:spcPts val="0"/>
              </a:spcBef>
              <a:spcAft>
                <a:spcPts val="0"/>
              </a:spcAft>
              <a:buSzPts val="1100"/>
              <a:buAutoNum type="alphaUcParenR"/>
            </a:pPr>
            <a:r>
              <a:rPr lang="en"/>
              <a:t>Printed cartilage (flexible connective tissue) dECM (cdECM) and PCL (</a:t>
            </a:r>
            <a:r>
              <a:rPr lang="en"/>
              <a:t>polycaprolactone</a:t>
            </a:r>
            <a:r>
              <a:rPr lang="en"/>
              <a:t>) framework, it is </a:t>
            </a:r>
            <a:r>
              <a:rPr lang="en"/>
              <a:t>biodegradable material </a:t>
            </a:r>
            <a:endParaRPr/>
          </a:p>
          <a:p>
            <a:pPr indent="-298450" lvl="0" marL="457200" rtl="0" algn="l">
              <a:spcBef>
                <a:spcPts val="0"/>
              </a:spcBef>
              <a:spcAft>
                <a:spcPts val="0"/>
              </a:spcAft>
              <a:buSzPts val="1100"/>
              <a:buAutoNum type="alphaUcParenR"/>
            </a:pPr>
            <a:r>
              <a:rPr lang="en"/>
              <a:t>Printed adipose (tissue for the storage of fat) tissue with adipose dECM (adECM) and PCL framework (scale bar, 5mm).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6758d92e8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6758d92e8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674a13be1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674a13be1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3D bioprinting is revolutionizing both regenerative medicine and biomedical research with its ability to precisely fabricate biologically functional tissues.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First, in </a:t>
            </a:r>
            <a:r>
              <a:rPr b="1" lang="en">
                <a:solidFill>
                  <a:schemeClr val="dk1"/>
                </a:solidFill>
              </a:rPr>
              <a:t>tissue regeneration</a:t>
            </a:r>
            <a:r>
              <a:rPr lang="en">
                <a:solidFill>
                  <a:schemeClr val="dk1"/>
                </a:solidFill>
              </a:rPr>
              <a:t>, we’re seeing significant strides in printing blood vessels and heart valves. For example, vascular networks made with GelMA and sacrificial materials like Pluronic F127 have shown improvements in nutrient transport and structure. Similarly, aortic valve scaffolds using hybrid methods like FDM and electrospinning have demonstrated promising mechanical performance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a:t>
            </a:r>
            <a:r>
              <a:rPr b="1" lang="en">
                <a:solidFill>
                  <a:schemeClr val="dk1"/>
                </a:solidFill>
              </a:rPr>
              <a:t>bone and cartilage applications</a:t>
            </a:r>
            <a:r>
              <a:rPr lang="en">
                <a:solidFill>
                  <a:schemeClr val="dk1"/>
                </a:solidFill>
              </a:rPr>
              <a:t>, bioprinting offers fine architectural control. Scaffold materials like BCPs, PCL, and b-TCP combined with techniques like plasma surface modification or ECM ornamentation improve both structural integrity and cell compatibility. Cartilage regeneration also benefits from new hydrogels with excellent bioprintability and low immune response.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a:t>
            </a:r>
            <a:r>
              <a:rPr b="1" lang="en">
                <a:solidFill>
                  <a:schemeClr val="dk1"/>
                </a:solidFill>
              </a:rPr>
              <a:t>skin and liver</a:t>
            </a:r>
            <a:r>
              <a:rPr lang="en">
                <a:solidFill>
                  <a:schemeClr val="dk1"/>
                </a:solidFill>
              </a:rPr>
              <a:t>, printed constructs now support cell proliferation and integration. Skin-like tissues printed with fibroblasts and keratinocytes have been successfully tested in mice. Liver printing still faces challenges in maintaining long-term cell viability, but bioink innovations and on-site printing during surgeries are offering new solutions.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Lastly, in </a:t>
            </a:r>
            <a:r>
              <a:rPr b="1" lang="en">
                <a:solidFill>
                  <a:schemeClr val="dk1"/>
                </a:solidFill>
              </a:rPr>
              <a:t>drug discovery</a:t>
            </a:r>
            <a:r>
              <a:rPr lang="en">
                <a:solidFill>
                  <a:schemeClr val="dk1"/>
                </a:solidFill>
              </a:rPr>
              <a:t>, 3D bioprinting enables the development of platforms that mimic real tissues, improving how we study drug toxicity and efficacy. This includes liver models for metabolism studies and skin tissues seeded with disease-specific cells for pathophysiology analysis.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Overall, 3D bioprinting is a transformative tool with applications that span from lab testing to patient-specific tissue implants.</a:t>
            </a:r>
            <a:endParaRPr>
              <a:solidFill>
                <a:schemeClr val="dk1"/>
              </a:solidFill>
            </a:endParaRPr>
          </a:p>
          <a:p>
            <a:pPr indent="0" lvl="0" marL="45720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6a10f75b3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6a10f75b3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lphaUcParenR"/>
            </a:pPr>
            <a:r>
              <a:rPr lang="en"/>
              <a:t>Bright field microscopy image of a 3D printed </a:t>
            </a:r>
            <a:r>
              <a:rPr lang="en"/>
              <a:t>vascularized</a:t>
            </a:r>
            <a:r>
              <a:rPr lang="en"/>
              <a:t> and </a:t>
            </a:r>
            <a:r>
              <a:rPr lang="en"/>
              <a:t>heterogeneous</a:t>
            </a:r>
            <a:r>
              <a:rPr lang="en"/>
              <a:t> tissue construct </a:t>
            </a:r>
            <a:endParaRPr/>
          </a:p>
          <a:p>
            <a:pPr indent="-298450" lvl="0" marL="457200" rtl="0" algn="l">
              <a:spcBef>
                <a:spcPts val="0"/>
              </a:spcBef>
              <a:spcAft>
                <a:spcPts val="0"/>
              </a:spcAft>
              <a:buSzPts val="1100"/>
              <a:buAutoNum type="alphaUcParenR"/>
            </a:pPr>
            <a:r>
              <a:rPr lang="en"/>
              <a:t>3D printed heart valve conduit </a:t>
            </a:r>
            <a:endParaRPr/>
          </a:p>
          <a:p>
            <a:pPr indent="-298450" lvl="0" marL="457200" rtl="0" algn="l">
              <a:spcBef>
                <a:spcPts val="0"/>
              </a:spcBef>
              <a:spcAft>
                <a:spcPts val="0"/>
              </a:spcAft>
              <a:buSzPts val="1100"/>
              <a:buAutoNum type="alphaUcParenR"/>
            </a:pPr>
            <a:r>
              <a:rPr lang="en"/>
              <a:t>3D printed and inserted BCP implant with adequate fitting </a:t>
            </a:r>
            <a:endParaRPr/>
          </a:p>
          <a:p>
            <a:pPr indent="-298450" lvl="0" marL="457200" rtl="0" algn="l">
              <a:spcBef>
                <a:spcPts val="0"/>
              </a:spcBef>
              <a:spcAft>
                <a:spcPts val="0"/>
              </a:spcAft>
              <a:buSzPts val="1100"/>
              <a:buAutoNum type="alphaUcParenR"/>
            </a:pPr>
            <a:r>
              <a:rPr lang="en"/>
              <a:t>Acellular fabricated ear shaped structure using 3D bioprinting technology with the sacrificial layer process, auricular cartilage region (red color) and lobe fat region (blue </a:t>
            </a:r>
            <a:r>
              <a:rPr lang="en"/>
              <a:t>collar</a:t>
            </a:r>
            <a:r>
              <a:rPr lang="en"/>
              <a:t>)</a:t>
            </a:r>
            <a:endParaRPr/>
          </a:p>
          <a:p>
            <a:pPr indent="-298450" lvl="0" marL="457200" rtl="0" algn="l">
              <a:spcBef>
                <a:spcPts val="0"/>
              </a:spcBef>
              <a:spcAft>
                <a:spcPts val="0"/>
              </a:spcAft>
              <a:buSzPts val="1100"/>
              <a:buAutoNum type="alphaUcParenR"/>
            </a:pPr>
            <a:r>
              <a:rPr lang="en"/>
              <a:t>Tissue engineered skin construct in the dorsal </a:t>
            </a:r>
            <a:r>
              <a:rPr lang="en"/>
              <a:t>skinfold</a:t>
            </a:r>
            <a:r>
              <a:rPr lang="en"/>
              <a:t> chamber in nude mice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674a13be1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674a13be1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While 3D bioprinting holds tremendous promise, its widespread adoption faces several challenges.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Technically, one major limitation is </a:t>
            </a:r>
            <a:r>
              <a:rPr b="1" lang="en">
                <a:solidFill>
                  <a:schemeClr val="dk1"/>
                </a:solidFill>
              </a:rPr>
              <a:t>printing resolution</a:t>
            </a:r>
            <a:r>
              <a:rPr lang="en">
                <a:solidFill>
                  <a:schemeClr val="dk1"/>
                </a:solidFill>
              </a:rPr>
              <a:t>—inkjet and extrusion-based printers can't go below 50 microns due to nozzle size. Laser-assisted printing improves this but still can't reach subcellular levels. Yet, to precisely arrange biomolecules like growth factors, nanoscale accuracy is essential.</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Printing speed</a:t>
            </a:r>
            <a:r>
              <a:rPr lang="en">
                <a:solidFill>
                  <a:schemeClr val="dk1"/>
                </a:solidFill>
              </a:rPr>
              <a:t> is another issue, especially for large-scale clinical applications. Long print times can compromise the viability and functionality of bioinks and the structural stability of in-progress builds. Innovations like multi-head printers and CLIP (Continuous Liquid Interface Production) are helping, but more work is needed.</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 the </a:t>
            </a:r>
            <a:r>
              <a:rPr b="1" lang="en">
                <a:solidFill>
                  <a:schemeClr val="dk1"/>
                </a:solidFill>
              </a:rPr>
              <a:t>materials front</a:t>
            </a:r>
            <a:r>
              <a:rPr lang="en">
                <a:solidFill>
                  <a:schemeClr val="dk1"/>
                </a:solidFill>
              </a:rPr>
              <a:t>, current bioinks often force a trade-off between biological activity and mechanical strength. For example, dECM bioinks are great for mimicking natural tissue environments but typically need support from stronger, less bioactive materials like PCL. There's also a very </a:t>
            </a:r>
            <a:r>
              <a:rPr b="1" lang="en">
                <a:solidFill>
                  <a:schemeClr val="dk1"/>
                </a:solidFill>
              </a:rPr>
              <a:t>limited palette of printable biomaterials</a:t>
            </a:r>
            <a:r>
              <a:rPr lang="en">
                <a:solidFill>
                  <a:schemeClr val="dk1"/>
                </a:solidFill>
              </a:rPr>
              <a:t>, especially for hybrid approaches.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Biologically</a:t>
            </a:r>
            <a:r>
              <a:rPr lang="en">
                <a:solidFill>
                  <a:schemeClr val="dk1"/>
                </a:solidFill>
              </a:rPr>
              <a:t>, the challenge lies in finding or engineering cells that can withstand the printing process, grow rapidly, function properly, and not provoke immune responses. Small molecule research offers hope in guiding controlled cell differentiation.</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Ethically and legally, 3D bioprinting is ahead of regulation. Widespread access raises fears of </a:t>
            </a:r>
            <a:r>
              <a:rPr b="1" lang="en">
                <a:solidFill>
                  <a:schemeClr val="dk1"/>
                </a:solidFill>
              </a:rPr>
              <a:t>DIY misuse</a:t>
            </a:r>
            <a:r>
              <a:rPr lang="en">
                <a:solidFill>
                  <a:schemeClr val="dk1"/>
                </a:solidFill>
              </a:rPr>
              <a:t>. There's also the question of who clinical trials should be tested on—how ethical is it to use a patient’s custom organ on someone else? Or should patients act as their own trial subjects?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While countries like South Korea and Japan have begun shaping guidelines, a </a:t>
            </a:r>
            <a:r>
              <a:rPr b="1" lang="en">
                <a:solidFill>
                  <a:schemeClr val="dk1"/>
                </a:solidFill>
              </a:rPr>
              <a:t>comprehensive global regulatory framework</a:t>
            </a:r>
            <a:r>
              <a:rPr lang="en">
                <a:solidFill>
                  <a:schemeClr val="dk1"/>
                </a:solidFill>
              </a:rPr>
              <a:t> is still lacking. This will be essential to ensure safe, equitable, and ethical use of this groundbreaking technology.</a:t>
            </a:r>
            <a:endParaRPr>
              <a:solidFill>
                <a:schemeClr val="dk1"/>
              </a:solidFill>
            </a:endParaRPr>
          </a:p>
          <a:p>
            <a:pPr indent="0" lvl="0" marL="45720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6969a954eb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6969a954eb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To conclude, 3D bioprinting has already demonstrated remarkable potential in several key areas, from tissue regeneration and organ transplantation to pharmaceutical testing and personalized medicine.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Its ability to fabricate complex, functional structures with precise biological, mechanical, and architectural features is a game-changer for modern healthcare.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Emerging </a:t>
            </a:r>
            <a:r>
              <a:rPr b="1" lang="en">
                <a:solidFill>
                  <a:schemeClr val="dk1"/>
                </a:solidFill>
              </a:rPr>
              <a:t>hybrid approaches</a:t>
            </a:r>
            <a:r>
              <a:rPr lang="en">
                <a:solidFill>
                  <a:schemeClr val="dk1"/>
                </a:solidFill>
              </a:rPr>
              <a:t>—which combine 3D printing with traditional manufacturing—have pushed the field even further. These systems can deliver higher resolution, more durable constructs, and better mimic the body's natural environment to support real cell behavior.</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However, the technology is far from complete. We still need improvements in </a:t>
            </a:r>
            <a:r>
              <a:rPr b="1" lang="en">
                <a:solidFill>
                  <a:schemeClr val="dk1"/>
                </a:solidFill>
              </a:rPr>
              <a:t>printing methods</a:t>
            </a:r>
            <a:r>
              <a:rPr lang="en">
                <a:solidFill>
                  <a:schemeClr val="dk1"/>
                </a:solidFill>
              </a:rPr>
              <a:t>, a </a:t>
            </a:r>
            <a:r>
              <a:rPr b="1" lang="en">
                <a:solidFill>
                  <a:schemeClr val="dk1"/>
                </a:solidFill>
              </a:rPr>
              <a:t>broader selection of bioinks</a:t>
            </a:r>
            <a:r>
              <a:rPr lang="en">
                <a:solidFill>
                  <a:schemeClr val="dk1"/>
                </a:solidFill>
              </a:rPr>
              <a:t>, and especially </a:t>
            </a:r>
            <a:r>
              <a:rPr b="1" lang="en">
                <a:solidFill>
                  <a:schemeClr val="dk1"/>
                </a:solidFill>
              </a:rPr>
              <a:t>stronger regulatory systems</a:t>
            </a:r>
            <a:r>
              <a:rPr lang="en">
                <a:solidFill>
                  <a:schemeClr val="dk1"/>
                </a:solidFill>
              </a:rPr>
              <a:t> to guide safe and ethical use.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Despite these ongoing challenges, 3D bioprinting remains one of the most promising and disruptive technologies in medicine, with the power to reshape how we approach healing, treatment, and biological manufacturing in the near future.</a:t>
            </a:r>
            <a:endParaRPr>
              <a:solidFill>
                <a:schemeClr val="dk1"/>
              </a:solidFill>
            </a:endParaRPr>
          </a:p>
          <a:p>
            <a:pPr indent="0" lvl="0" marL="45720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6758d92e80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6758d92e80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6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30200" lvl="0" marL="457200" algn="ctr">
              <a:spcBef>
                <a:spcPts val="0"/>
              </a:spcBef>
              <a:spcAft>
                <a:spcPts val="0"/>
              </a:spcAft>
              <a:buClr>
                <a:schemeClr val="lt1"/>
              </a:buClr>
              <a:buSzPts val="1600"/>
              <a:buChar char="●"/>
              <a:defRPr>
                <a:solidFill>
                  <a:schemeClr val="lt1"/>
                </a:solidFill>
              </a:defRPr>
            </a:lvl1pPr>
            <a:lvl2pPr indent="-330200" lvl="1" marL="914400" algn="ctr">
              <a:spcBef>
                <a:spcPts val="0"/>
              </a:spcBef>
              <a:spcAft>
                <a:spcPts val="0"/>
              </a:spcAft>
              <a:buClr>
                <a:schemeClr val="lt1"/>
              </a:buClr>
              <a:buSzPts val="1600"/>
              <a:buChar char="○"/>
              <a:defRPr>
                <a:solidFill>
                  <a:schemeClr val="lt1"/>
                </a:solidFill>
              </a:defRPr>
            </a:lvl2pPr>
            <a:lvl3pPr indent="-330200" lvl="2" marL="1371600" algn="ctr">
              <a:spcBef>
                <a:spcPts val="0"/>
              </a:spcBef>
              <a:spcAft>
                <a:spcPts val="0"/>
              </a:spcAft>
              <a:buClr>
                <a:schemeClr val="lt1"/>
              </a:buClr>
              <a:buSzPts val="1600"/>
              <a:buChar char="■"/>
              <a:defRPr>
                <a:solidFill>
                  <a:schemeClr val="lt1"/>
                </a:solidFill>
              </a:defRPr>
            </a:lvl3pPr>
            <a:lvl4pPr indent="-330200" lvl="3" marL="1828800" algn="ctr">
              <a:spcBef>
                <a:spcPts val="0"/>
              </a:spcBef>
              <a:spcAft>
                <a:spcPts val="0"/>
              </a:spcAft>
              <a:buClr>
                <a:schemeClr val="lt1"/>
              </a:buClr>
              <a:buSzPts val="1600"/>
              <a:buChar char="●"/>
              <a:defRPr>
                <a:solidFill>
                  <a:schemeClr val="lt1"/>
                </a:solidFill>
              </a:defRPr>
            </a:lvl4pPr>
            <a:lvl5pPr indent="-330200" lvl="4" marL="2286000" algn="ctr">
              <a:spcBef>
                <a:spcPts val="0"/>
              </a:spcBef>
              <a:spcAft>
                <a:spcPts val="0"/>
              </a:spcAft>
              <a:buClr>
                <a:schemeClr val="lt1"/>
              </a:buClr>
              <a:buSzPts val="1600"/>
              <a:buChar char="○"/>
              <a:defRPr>
                <a:solidFill>
                  <a:schemeClr val="lt1"/>
                </a:solidFill>
              </a:defRPr>
            </a:lvl5pPr>
            <a:lvl6pPr indent="-330200" lvl="5" marL="2743200" algn="ctr">
              <a:spcBef>
                <a:spcPts val="0"/>
              </a:spcBef>
              <a:spcAft>
                <a:spcPts val="0"/>
              </a:spcAft>
              <a:buClr>
                <a:schemeClr val="lt1"/>
              </a:buClr>
              <a:buSzPts val="16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gradFill>
          <a:gsLst>
            <a:gs pos="0">
              <a:srgbClr val="CCCCCC"/>
            </a:gs>
            <a:gs pos="100000">
              <a:srgbClr val="1D99AC"/>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3000"/>
              <a:buFont typeface="Maven Pro"/>
              <a:buNone/>
              <a:defRPr b="1" sz="3000">
                <a:solidFill>
                  <a:schemeClr val="lt1"/>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30200" lvl="0" marL="457200">
              <a:lnSpc>
                <a:spcPct val="115000"/>
              </a:lnSpc>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1pPr>
            <a:lvl2pPr indent="-330200" lvl="1" marL="914400">
              <a:lnSpc>
                <a:spcPct val="115000"/>
              </a:lnSpc>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2pPr>
            <a:lvl3pPr indent="-330200" lvl="2" marL="1371600">
              <a:lnSpc>
                <a:spcPct val="115000"/>
              </a:lnSpc>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3pPr>
            <a:lvl4pPr indent="-330200" lvl="3" marL="1828800">
              <a:lnSpc>
                <a:spcPct val="115000"/>
              </a:lnSpc>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4pPr>
            <a:lvl5pPr indent="-330200" lvl="4" marL="2286000">
              <a:lnSpc>
                <a:spcPct val="115000"/>
              </a:lnSpc>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5pPr>
            <a:lvl6pPr indent="-330200" lvl="5" marL="2743200">
              <a:lnSpc>
                <a:spcPct val="115000"/>
              </a:lnSpc>
              <a:spcBef>
                <a:spcPts val="0"/>
              </a:spcBef>
              <a:spcAft>
                <a:spcPts val="0"/>
              </a:spcAft>
              <a:buClr>
                <a:schemeClr val="lt1"/>
              </a:buClr>
              <a:buSzPts val="1600"/>
              <a:buFont typeface="Nunito"/>
              <a:buChar char="■"/>
              <a:defRPr sz="1600">
                <a:solidFill>
                  <a:schemeClr val="lt1"/>
                </a:solidFill>
                <a:latin typeface="Nunito"/>
                <a:ea typeface="Nunito"/>
                <a:cs typeface="Nunito"/>
                <a:sym typeface="Nunito"/>
              </a:defRPr>
            </a:lvl6pPr>
            <a:lvl7pPr indent="-298450" lvl="6" marL="3200400">
              <a:lnSpc>
                <a:spcPct val="115000"/>
              </a:lnSpc>
              <a:spcBef>
                <a:spcPts val="0"/>
              </a:spcBef>
              <a:spcAft>
                <a:spcPts val="0"/>
              </a:spcAft>
              <a:buClr>
                <a:schemeClr val="lt1"/>
              </a:buClr>
              <a:buSzPts val="1100"/>
              <a:buFont typeface="Nunito"/>
              <a:buChar char="●"/>
              <a:defRPr sz="1100">
                <a:solidFill>
                  <a:schemeClr val="lt1"/>
                </a:solidFill>
                <a:latin typeface="Nunito"/>
                <a:ea typeface="Nunito"/>
                <a:cs typeface="Nunito"/>
                <a:sym typeface="Nunito"/>
              </a:defRPr>
            </a:lvl7pPr>
            <a:lvl8pPr indent="-298450" lvl="7" marL="3657600">
              <a:lnSpc>
                <a:spcPct val="115000"/>
              </a:lnSpc>
              <a:spcBef>
                <a:spcPts val="0"/>
              </a:spcBef>
              <a:spcAft>
                <a:spcPts val="0"/>
              </a:spcAft>
              <a:buClr>
                <a:schemeClr val="lt1"/>
              </a:buClr>
              <a:buSzPts val="1100"/>
              <a:buFont typeface="Nunito"/>
              <a:buChar char="○"/>
              <a:defRPr sz="1100">
                <a:solidFill>
                  <a:schemeClr val="lt1"/>
                </a:solidFill>
                <a:latin typeface="Nunito"/>
                <a:ea typeface="Nunito"/>
                <a:cs typeface="Nunito"/>
                <a:sym typeface="Nunito"/>
              </a:defRPr>
            </a:lvl8pPr>
            <a:lvl9pPr indent="-298450" lvl="8" marL="4114800">
              <a:lnSpc>
                <a:spcPct val="115000"/>
              </a:lnSpc>
              <a:spcBef>
                <a:spcPts val="0"/>
              </a:spcBef>
              <a:spcAft>
                <a:spcPts val="0"/>
              </a:spcAft>
              <a:buClr>
                <a:schemeClr val="lt1"/>
              </a:buClr>
              <a:buSzPts val="1100"/>
              <a:buFont typeface="Nunito"/>
              <a:buChar char="■"/>
              <a:defRPr sz="1100">
                <a:solidFill>
                  <a:schemeClr val="lt1"/>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builtin.com/articles/3d-printed-organs#:~:text=The%20first%203D%2Dprinted%20organ,Forest%20Institute%20for%20Regenerative%20Medicine." TargetMode="External"/><Relationship Id="rId4" Type="http://schemas.openxmlformats.org/officeDocument/2006/relationships/hyperlink" Target="https://pmc.ncbi.nlm.nih.gov/articles/PMC7728666/" TargetMode="External"/><Relationship Id="rId5" Type="http://schemas.openxmlformats.org/officeDocument/2006/relationships/hyperlink" Target="https://pmc.ncbi.nlm.nih.gov/articles/PMC7728666/" TargetMode="External"/><Relationship Id="rId6" Type="http://schemas.openxmlformats.org/officeDocument/2006/relationships/hyperlink" Target="https://pmc.ncbi.nlm.nih.gov/articles/PMC7728666/" TargetMode="External"/><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319550" y="444775"/>
            <a:ext cx="5264400" cy="2367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3D Bioprinting in Tissue Engineering for Medical Applications: The Classic and the Hybrid</a:t>
            </a:r>
            <a:endParaRPr/>
          </a:p>
        </p:txBody>
      </p:sp>
      <p:sp>
        <p:nvSpPr>
          <p:cNvPr id="278" name="Google Shape;278;p13"/>
          <p:cNvSpPr txBox="1"/>
          <p:nvPr>
            <p:ph idx="1" type="subTitle"/>
          </p:nvPr>
        </p:nvSpPr>
        <p:spPr>
          <a:xfrm>
            <a:off x="783500" y="2812675"/>
            <a:ext cx="5787600" cy="695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t>By: Zelong Xie, Ming Gao, Anderson O. Lobo, and Thomas J. Webster</a:t>
            </a:r>
            <a:endParaRPr/>
          </a:p>
          <a:p>
            <a:pPr indent="0" lvl="0" marL="0" rtl="0" algn="l">
              <a:spcBef>
                <a:spcPts val="0"/>
              </a:spcBef>
              <a:spcAft>
                <a:spcPts val="0"/>
              </a:spcAft>
              <a:buNone/>
            </a:pPr>
            <a:r>
              <a:rPr lang="en"/>
              <a:t>Guilherme Nasif</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Purpose of a Review Paper</a:t>
            </a:r>
            <a:endParaRPr/>
          </a:p>
        </p:txBody>
      </p:sp>
      <p:sp>
        <p:nvSpPr>
          <p:cNvPr id="284" name="Google Shape;284;p14"/>
          <p:cNvSpPr txBox="1"/>
          <p:nvPr>
            <p:ph idx="1" type="body"/>
          </p:nvPr>
        </p:nvSpPr>
        <p:spPr>
          <a:xfrm>
            <a:off x="1303800" y="1381700"/>
            <a:ext cx="7030500" cy="3355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Summarizes, analyzes, and synthesizes the existing knowledge on a topic</a:t>
            </a:r>
            <a:endParaRPr/>
          </a:p>
          <a:p>
            <a:pPr indent="-323850" lvl="0" marL="457200" rtl="0" algn="l">
              <a:spcBef>
                <a:spcPts val="0"/>
              </a:spcBef>
              <a:spcAft>
                <a:spcPts val="0"/>
              </a:spcAft>
              <a:buSzPts val="1500"/>
              <a:buChar char="●"/>
            </a:pPr>
            <a:r>
              <a:rPr lang="en"/>
              <a:t>Highlights trends, gaps, and emerging developments</a:t>
            </a:r>
            <a:endParaRPr/>
          </a:p>
          <a:p>
            <a:pPr indent="0" lvl="0" marL="0" rtl="0" algn="l">
              <a:spcBef>
                <a:spcPts val="1200"/>
              </a:spcBef>
              <a:spcAft>
                <a:spcPts val="1200"/>
              </a:spcAft>
              <a:buNone/>
            </a:pPr>
            <a:r>
              <a:t/>
            </a:r>
            <a:endParaRPr/>
          </a:p>
        </p:txBody>
      </p:sp>
      <p:pic>
        <p:nvPicPr>
          <p:cNvPr id="285" name="Google Shape;285;p14"/>
          <p:cNvPicPr preferRelativeResize="0"/>
          <p:nvPr/>
        </p:nvPicPr>
        <p:blipFill>
          <a:blip r:embed="rId3">
            <a:alphaModFix/>
          </a:blip>
          <a:stretch>
            <a:fillRect/>
          </a:stretch>
        </p:blipFill>
        <p:spPr>
          <a:xfrm>
            <a:off x="5505425" y="2139350"/>
            <a:ext cx="3553199" cy="29112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15"/>
          <p:cNvPicPr preferRelativeResize="0"/>
          <p:nvPr/>
        </p:nvPicPr>
        <p:blipFill>
          <a:blip r:embed="rId3">
            <a:alphaModFix/>
          </a:blip>
          <a:stretch>
            <a:fillRect/>
          </a:stretch>
        </p:blipFill>
        <p:spPr>
          <a:xfrm>
            <a:off x="5282950" y="2671825"/>
            <a:ext cx="3811026" cy="2421125"/>
          </a:xfrm>
          <a:prstGeom prst="rect">
            <a:avLst/>
          </a:prstGeom>
          <a:noFill/>
          <a:ln>
            <a:noFill/>
          </a:ln>
        </p:spPr>
      </p:pic>
      <p:sp>
        <p:nvSpPr>
          <p:cNvPr id="291" name="Google Shape;291;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 of Printing &amp; 3D Technology</a:t>
            </a:r>
            <a:endParaRPr/>
          </a:p>
        </p:txBody>
      </p:sp>
      <p:sp>
        <p:nvSpPr>
          <p:cNvPr id="292" name="Google Shape;292;p15"/>
          <p:cNvSpPr txBox="1"/>
          <p:nvPr>
            <p:ph idx="1" type="body"/>
          </p:nvPr>
        </p:nvSpPr>
        <p:spPr>
          <a:xfrm>
            <a:off x="1303800" y="1381700"/>
            <a:ext cx="7393200" cy="3355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Originated with woodblock printing in ancient China</a:t>
            </a:r>
            <a:endParaRPr/>
          </a:p>
          <a:p>
            <a:pPr indent="-323850" lvl="0" marL="457200" rtl="0" algn="l">
              <a:spcBef>
                <a:spcPts val="0"/>
              </a:spcBef>
              <a:spcAft>
                <a:spcPts val="0"/>
              </a:spcAft>
              <a:buSzPts val="1500"/>
              <a:buChar char="●"/>
            </a:pPr>
            <a:r>
              <a:rPr lang="en"/>
              <a:t>Additive Manufacturing (AM): builds 3D objects layer-by-layer</a:t>
            </a:r>
            <a:endParaRPr/>
          </a:p>
          <a:p>
            <a:pPr indent="-323850" lvl="0" marL="457200" rtl="0" algn="l">
              <a:spcBef>
                <a:spcPts val="0"/>
              </a:spcBef>
              <a:spcAft>
                <a:spcPts val="0"/>
              </a:spcAft>
              <a:buSzPts val="1500"/>
              <a:buChar char="●"/>
            </a:pPr>
            <a:r>
              <a:rPr lang="en"/>
              <a:t>1986: Charles W. Hull introduces stereolithography</a:t>
            </a:r>
            <a:endParaRPr/>
          </a:p>
          <a:p>
            <a:pPr indent="-323850" lvl="0" marL="457200" rtl="0" algn="l">
              <a:spcBef>
                <a:spcPts val="0"/>
              </a:spcBef>
              <a:spcAft>
                <a:spcPts val="0"/>
              </a:spcAft>
              <a:buSzPts val="1500"/>
              <a:buChar char="●"/>
            </a:pPr>
            <a:r>
              <a:rPr lang="en"/>
              <a:t>Bioprinting = AM + living cells + biomaterials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Additive vs. Conventional Manufacturing</a:t>
            </a:r>
            <a:endParaRPr/>
          </a:p>
        </p:txBody>
      </p:sp>
      <p:sp>
        <p:nvSpPr>
          <p:cNvPr id="298" name="Google Shape;298;p16"/>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AM: Layer-by-layer, customizable, great for complex geometries</a:t>
            </a:r>
            <a:endParaRPr/>
          </a:p>
          <a:p>
            <a:pPr indent="-323850" lvl="0" marL="457200" rtl="0" algn="l">
              <a:spcBef>
                <a:spcPts val="0"/>
              </a:spcBef>
              <a:spcAft>
                <a:spcPts val="0"/>
              </a:spcAft>
              <a:buSzPts val="1500"/>
              <a:buChar char="●"/>
            </a:pPr>
            <a:r>
              <a:rPr lang="en"/>
              <a:t>CM: Material removal (cutting/molding), high precision and finish</a:t>
            </a:r>
            <a:endParaRPr/>
          </a:p>
          <a:p>
            <a:pPr indent="-323850" lvl="0" marL="457200" rtl="0" algn="l">
              <a:spcBef>
                <a:spcPts val="0"/>
              </a:spcBef>
              <a:spcAft>
                <a:spcPts val="0"/>
              </a:spcAft>
              <a:buSzPts val="1500"/>
              <a:buChar char="●"/>
            </a:pPr>
            <a:r>
              <a:rPr lang="en"/>
              <a:t>Hybrid: Combines advantages of both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title"/>
          </p:nvPr>
        </p:nvSpPr>
        <p:spPr>
          <a:xfrm>
            <a:off x="1303800" y="598575"/>
            <a:ext cx="47640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3D Printing Workflow</a:t>
            </a:r>
            <a:endParaRPr/>
          </a:p>
        </p:txBody>
      </p:sp>
      <p:sp>
        <p:nvSpPr>
          <p:cNvPr id="304" name="Google Shape;304;p17"/>
          <p:cNvSpPr txBox="1"/>
          <p:nvPr>
            <p:ph idx="1" type="body"/>
          </p:nvPr>
        </p:nvSpPr>
        <p:spPr>
          <a:xfrm>
            <a:off x="1303800" y="1381700"/>
            <a:ext cx="4764000" cy="3355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Create 3D CAD model</a:t>
            </a:r>
            <a:endParaRPr/>
          </a:p>
          <a:p>
            <a:pPr indent="-323850" lvl="0" marL="457200" rtl="0" algn="l">
              <a:spcBef>
                <a:spcPts val="0"/>
              </a:spcBef>
              <a:spcAft>
                <a:spcPts val="0"/>
              </a:spcAft>
              <a:buSzPts val="1500"/>
              <a:buChar char="●"/>
            </a:pPr>
            <a:r>
              <a:rPr lang="en"/>
              <a:t>Slice into 2D layers</a:t>
            </a:r>
            <a:endParaRPr/>
          </a:p>
          <a:p>
            <a:pPr indent="-323850" lvl="0" marL="457200" rtl="0" algn="l">
              <a:spcBef>
                <a:spcPts val="0"/>
              </a:spcBef>
              <a:spcAft>
                <a:spcPts val="0"/>
              </a:spcAft>
              <a:buSzPts val="1500"/>
              <a:buChar char="●"/>
            </a:pPr>
            <a:r>
              <a:rPr lang="en"/>
              <a:t>Build structure layer-by-layer</a:t>
            </a:r>
            <a:endParaRPr/>
          </a:p>
          <a:p>
            <a:pPr indent="-323850" lvl="0" marL="457200" rtl="0" algn="l">
              <a:spcBef>
                <a:spcPts val="0"/>
              </a:spcBef>
              <a:spcAft>
                <a:spcPts val="0"/>
              </a:spcAft>
              <a:buSzPts val="1500"/>
              <a:buChar char="●"/>
            </a:pPr>
            <a:r>
              <a:rPr lang="en"/>
              <a:t>Post-processing (curing, cleaning, etc.)</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305" name="Google Shape;305;p17"/>
          <p:cNvPicPr preferRelativeResize="0"/>
          <p:nvPr/>
        </p:nvPicPr>
        <p:blipFill rotWithShape="1">
          <a:blip r:embed="rId3">
            <a:alphaModFix/>
          </a:blip>
          <a:srcRect b="0" l="24345" r="23324" t="0"/>
          <a:stretch/>
        </p:blipFill>
        <p:spPr>
          <a:xfrm>
            <a:off x="6067750" y="793025"/>
            <a:ext cx="2965476" cy="4249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990"/>
              <a:buFont typeface="Arial"/>
              <a:buNone/>
            </a:pPr>
            <a:r>
              <a:rPr lang="en"/>
              <a:t>Non-Biological 3D Printing</a:t>
            </a:r>
            <a:endParaRPr/>
          </a:p>
        </p:txBody>
      </p:sp>
      <p:sp>
        <p:nvSpPr>
          <p:cNvPr id="311" name="Google Shape;311;p18"/>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They can still have biomedical applications if the right printing materials are selected</a:t>
            </a:r>
            <a:endParaRPr/>
          </a:p>
          <a:p>
            <a:pPr indent="-323850" lvl="0" marL="457200" rtl="0" algn="l">
              <a:spcBef>
                <a:spcPts val="0"/>
              </a:spcBef>
              <a:spcAft>
                <a:spcPts val="0"/>
              </a:spcAft>
              <a:buSzPts val="1500"/>
              <a:buChar char="●"/>
            </a:pPr>
            <a:r>
              <a:rPr lang="en"/>
              <a:t>Methods:</a:t>
            </a:r>
            <a:endParaRPr/>
          </a:p>
          <a:p>
            <a:pPr indent="-330200" lvl="1" marL="914400" rtl="0" algn="l">
              <a:spcBef>
                <a:spcPts val="0"/>
              </a:spcBef>
              <a:spcAft>
                <a:spcPts val="0"/>
              </a:spcAft>
              <a:buSzPts val="1600"/>
              <a:buChar char="○"/>
            </a:pPr>
            <a:r>
              <a:rPr lang="en"/>
              <a:t>Fused deposition modeling (FDM)</a:t>
            </a:r>
            <a:endParaRPr/>
          </a:p>
          <a:p>
            <a:pPr indent="-330200" lvl="1" marL="914400" rtl="0" algn="l">
              <a:spcBef>
                <a:spcPts val="0"/>
              </a:spcBef>
              <a:spcAft>
                <a:spcPts val="0"/>
              </a:spcAft>
              <a:buSzPts val="1600"/>
              <a:buChar char="○"/>
            </a:pPr>
            <a:r>
              <a:rPr lang="en"/>
              <a:t>Stereolithography (SLA)</a:t>
            </a:r>
            <a:endParaRPr/>
          </a:p>
          <a:p>
            <a:pPr indent="-330200" lvl="1" marL="914400" rtl="0" algn="l">
              <a:spcBef>
                <a:spcPts val="0"/>
              </a:spcBef>
              <a:spcAft>
                <a:spcPts val="0"/>
              </a:spcAft>
              <a:buSzPts val="1600"/>
              <a:buChar char="○"/>
            </a:pPr>
            <a:r>
              <a:rPr lang="en"/>
              <a:t>Selective laser sintering (SLS)</a:t>
            </a:r>
            <a:endParaRPr/>
          </a:p>
        </p:txBody>
      </p:sp>
      <p:pic>
        <p:nvPicPr>
          <p:cNvPr id="312" name="Google Shape;312;p18"/>
          <p:cNvPicPr preferRelativeResize="0"/>
          <p:nvPr/>
        </p:nvPicPr>
        <p:blipFill rotWithShape="1">
          <a:blip r:embed="rId3">
            <a:alphaModFix/>
          </a:blip>
          <a:srcRect b="18350" l="20086" r="19231" t="11905"/>
          <a:stretch/>
        </p:blipFill>
        <p:spPr>
          <a:xfrm>
            <a:off x="5460125" y="2339125"/>
            <a:ext cx="3597425" cy="26999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18" name="Google Shape;318;p19"/>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9" name="Google Shape;319;p19" title="Screenshot 2025-06-18 180729.png"/>
          <p:cNvPicPr preferRelativeResize="0"/>
          <p:nvPr/>
        </p:nvPicPr>
        <p:blipFill>
          <a:blip r:embed="rId3">
            <a:alphaModFix/>
          </a:blip>
          <a:stretch>
            <a:fillRect/>
          </a:stretch>
        </p:blipFill>
        <p:spPr>
          <a:xfrm>
            <a:off x="116113" y="370663"/>
            <a:ext cx="8911775" cy="4402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0"/>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3D </a:t>
            </a:r>
            <a:r>
              <a:rPr lang="en"/>
              <a:t>Bioprinting Methods </a:t>
            </a:r>
            <a:endParaRPr/>
          </a:p>
        </p:txBody>
      </p:sp>
      <p:sp>
        <p:nvSpPr>
          <p:cNvPr id="325" name="Google Shape;325;p20"/>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Direct deposition of living cells</a:t>
            </a:r>
            <a:endParaRPr/>
          </a:p>
          <a:p>
            <a:pPr indent="-323850" lvl="0" marL="457200" rtl="0" algn="l">
              <a:spcBef>
                <a:spcPts val="0"/>
              </a:spcBef>
              <a:spcAft>
                <a:spcPts val="0"/>
              </a:spcAft>
              <a:buSzPts val="1500"/>
              <a:buChar char="●"/>
            </a:pPr>
            <a:r>
              <a:rPr lang="en"/>
              <a:t>Methods:</a:t>
            </a:r>
            <a:endParaRPr/>
          </a:p>
          <a:p>
            <a:pPr indent="-330200" lvl="1" marL="914400" rtl="0" algn="l">
              <a:spcBef>
                <a:spcPts val="0"/>
              </a:spcBef>
              <a:spcAft>
                <a:spcPts val="0"/>
              </a:spcAft>
              <a:buSzPts val="1600"/>
              <a:buChar char="○"/>
            </a:pPr>
            <a:r>
              <a:rPr lang="en"/>
              <a:t>Inkjet bioprinting</a:t>
            </a:r>
            <a:endParaRPr/>
          </a:p>
          <a:p>
            <a:pPr indent="-330200" lvl="1" marL="914400" rtl="0" algn="l">
              <a:spcBef>
                <a:spcPts val="0"/>
              </a:spcBef>
              <a:spcAft>
                <a:spcPts val="0"/>
              </a:spcAft>
              <a:buSzPts val="1600"/>
              <a:buChar char="○"/>
            </a:pPr>
            <a:r>
              <a:rPr lang="en"/>
              <a:t>Laser assisted bioprinting</a:t>
            </a:r>
            <a:endParaRPr/>
          </a:p>
          <a:p>
            <a:pPr indent="-330200" lvl="1" marL="914400" rtl="0" algn="l">
              <a:spcBef>
                <a:spcPts val="0"/>
              </a:spcBef>
              <a:spcAft>
                <a:spcPts val="0"/>
              </a:spcAft>
              <a:buSzPts val="1600"/>
              <a:buChar char="○"/>
            </a:pPr>
            <a:r>
              <a:rPr lang="en"/>
              <a:t>Extrusion bioprinting</a:t>
            </a:r>
            <a:endParaRPr/>
          </a:p>
        </p:txBody>
      </p:sp>
      <p:pic>
        <p:nvPicPr>
          <p:cNvPr id="326" name="Google Shape;326;p20"/>
          <p:cNvPicPr preferRelativeResize="0"/>
          <p:nvPr/>
        </p:nvPicPr>
        <p:blipFill rotWithShape="1">
          <a:blip r:embed="rId3">
            <a:alphaModFix/>
          </a:blip>
          <a:srcRect b="67595" l="0" r="0" t="0"/>
          <a:stretch/>
        </p:blipFill>
        <p:spPr>
          <a:xfrm>
            <a:off x="3429000" y="3115825"/>
            <a:ext cx="5599974" cy="19043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32" name="Google Shape;332;p21"/>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3" name="Google Shape;333;p21" title="Screenshot 2025-06-18 175652.png"/>
          <p:cNvPicPr preferRelativeResize="0"/>
          <p:nvPr/>
        </p:nvPicPr>
        <p:blipFill>
          <a:blip r:embed="rId3">
            <a:alphaModFix/>
          </a:blip>
          <a:stretch>
            <a:fillRect/>
          </a:stretch>
        </p:blipFill>
        <p:spPr>
          <a:xfrm>
            <a:off x="28575" y="785747"/>
            <a:ext cx="9086850" cy="34507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Comparison of 3D printing techniques</a:t>
            </a:r>
            <a:endParaRPr/>
          </a:p>
        </p:txBody>
      </p:sp>
      <p:sp>
        <p:nvSpPr>
          <p:cNvPr id="339" name="Google Shape;339;p22"/>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0" name="Google Shape;340;p22" title="Screenshot 2025-06-18 175723.png"/>
          <p:cNvPicPr preferRelativeResize="0"/>
          <p:nvPr/>
        </p:nvPicPr>
        <p:blipFill>
          <a:blip r:embed="rId3">
            <a:alphaModFix/>
          </a:blip>
          <a:stretch>
            <a:fillRect/>
          </a:stretch>
        </p:blipFill>
        <p:spPr>
          <a:xfrm>
            <a:off x="60625" y="1566088"/>
            <a:ext cx="9143999" cy="29864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Hybrid Bioprinting Approaches</a:t>
            </a:r>
            <a:endParaRPr/>
          </a:p>
        </p:txBody>
      </p:sp>
      <p:sp>
        <p:nvSpPr>
          <p:cNvPr id="346" name="Google Shape;346;p23"/>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lnSpcReduction="20000"/>
          </a:bodyPr>
          <a:lstStyle/>
          <a:p>
            <a:pPr indent="-323850" lvl="0" marL="457200" rtl="0" algn="l">
              <a:spcBef>
                <a:spcPts val="0"/>
              </a:spcBef>
              <a:spcAft>
                <a:spcPts val="0"/>
              </a:spcAft>
              <a:buSzPts val="1500"/>
              <a:buChar char="●"/>
            </a:pPr>
            <a:r>
              <a:rPr lang="en"/>
              <a:t>Hybrid manufacturing combines Additive Manufacturing (AM) &amp; Conventional Manufacturing (CM)</a:t>
            </a:r>
            <a:endParaRPr/>
          </a:p>
          <a:p>
            <a:pPr indent="-323850" lvl="0" marL="457200" rtl="0" algn="l">
              <a:spcBef>
                <a:spcPts val="0"/>
              </a:spcBef>
              <a:spcAft>
                <a:spcPts val="0"/>
              </a:spcAft>
              <a:buSzPts val="1500"/>
              <a:buChar char="●"/>
            </a:pPr>
            <a:r>
              <a:rPr lang="en"/>
              <a:t>This very integrated into the metal industry</a:t>
            </a:r>
            <a:endParaRPr/>
          </a:p>
          <a:p>
            <a:pPr indent="-323850" lvl="0" marL="457200" rtl="0" algn="l">
              <a:spcBef>
                <a:spcPts val="0"/>
              </a:spcBef>
              <a:spcAft>
                <a:spcPts val="0"/>
              </a:spcAft>
              <a:buSzPts val="1500"/>
              <a:buChar char="●"/>
            </a:pPr>
            <a:r>
              <a:rPr lang="en"/>
              <a:t>This same approach is now gaining traction in tissue engineering</a:t>
            </a:r>
            <a:endParaRPr/>
          </a:p>
          <a:p>
            <a:pPr indent="-323850" lvl="0" marL="457200" rtl="0" algn="l">
              <a:spcBef>
                <a:spcPts val="0"/>
              </a:spcBef>
              <a:spcAft>
                <a:spcPts val="0"/>
              </a:spcAft>
              <a:buSzPts val="1500"/>
              <a:buChar char="●"/>
            </a:pPr>
            <a:r>
              <a:rPr lang="en"/>
              <a:t>Electrospinning is a technique used to create scaffolds, particularly with micro- and nanoscale fibers, that can support cell growth and tissue regeneration</a:t>
            </a:r>
            <a:endParaRPr/>
          </a:p>
          <a:p>
            <a:pPr indent="-323850" lvl="0" marL="457200" rtl="0" algn="l">
              <a:spcBef>
                <a:spcPts val="0"/>
              </a:spcBef>
              <a:spcAft>
                <a:spcPts val="0"/>
              </a:spcAft>
              <a:buSzPts val="1500"/>
              <a:buChar char="●"/>
            </a:pPr>
            <a:r>
              <a:rPr lang="en"/>
              <a:t>Hybrid manufacturing can be integrated at different levels:</a:t>
            </a:r>
            <a:endParaRPr/>
          </a:p>
          <a:p>
            <a:pPr indent="-330200" lvl="1" marL="914400" rtl="0" algn="l">
              <a:spcBef>
                <a:spcPts val="0"/>
              </a:spcBef>
              <a:spcAft>
                <a:spcPts val="0"/>
              </a:spcAft>
              <a:buSzPts val="1600"/>
              <a:buChar char="○"/>
            </a:pPr>
            <a:r>
              <a:rPr lang="en"/>
              <a:t>Assembly level – combining parts made separately by AM and CM</a:t>
            </a:r>
            <a:endParaRPr/>
          </a:p>
          <a:p>
            <a:pPr indent="-330200" lvl="1" marL="914400" rtl="0" algn="l">
              <a:spcBef>
                <a:spcPts val="0"/>
              </a:spcBef>
              <a:spcAft>
                <a:spcPts val="0"/>
              </a:spcAft>
              <a:buSzPts val="1600"/>
              <a:buChar char="○"/>
            </a:pPr>
            <a:r>
              <a:rPr lang="en"/>
              <a:t>Fabrication level – merging different scales into one scaffold</a:t>
            </a:r>
            <a:endParaRPr/>
          </a:p>
          <a:p>
            <a:pPr indent="-330200" lvl="1" marL="914400" rtl="0" algn="l">
              <a:spcBef>
                <a:spcPts val="0"/>
              </a:spcBef>
              <a:spcAft>
                <a:spcPts val="0"/>
              </a:spcAft>
              <a:buSzPts val="1600"/>
              <a:buChar char="○"/>
            </a:pPr>
            <a:r>
              <a:rPr lang="en"/>
              <a:t>Technique level – blending processes within one hybrid machine</a:t>
            </a:r>
            <a:endParaRPr/>
          </a:p>
          <a:p>
            <a:pPr indent="0" lvl="0" marL="45720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4"/>
          <p:cNvSpPr txBox="1"/>
          <p:nvPr>
            <p:ph type="title"/>
          </p:nvPr>
        </p:nvSpPr>
        <p:spPr>
          <a:xfrm>
            <a:off x="1203450" y="598575"/>
            <a:ext cx="8535900" cy="999300"/>
          </a:xfrm>
          <a:prstGeom prst="rect">
            <a:avLst/>
          </a:prstGeom>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SzPts val="2300"/>
              <a:buAutoNum type="alphaUcParenR"/>
            </a:pPr>
            <a:r>
              <a:rPr lang="en" sz="2300"/>
              <a:t>Assembly Level: Separate Modules Joined Together</a:t>
            </a:r>
            <a:endParaRPr sz="2300"/>
          </a:p>
          <a:p>
            <a:pPr indent="0" lvl="0" marL="0" rtl="0" algn="l">
              <a:spcBef>
                <a:spcPts val="1200"/>
              </a:spcBef>
              <a:spcAft>
                <a:spcPts val="0"/>
              </a:spcAft>
              <a:buNone/>
            </a:pPr>
            <a:r>
              <a:t/>
            </a:r>
            <a:endParaRPr/>
          </a:p>
        </p:txBody>
      </p:sp>
      <p:sp>
        <p:nvSpPr>
          <p:cNvPr id="352" name="Google Shape;352;p24"/>
          <p:cNvSpPr txBox="1"/>
          <p:nvPr>
            <p:ph idx="1" type="body"/>
          </p:nvPr>
        </p:nvSpPr>
        <p:spPr>
          <a:xfrm>
            <a:off x="2198400" y="1484575"/>
            <a:ext cx="6945600" cy="33552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SzPts val="1500"/>
              <a:buChar char="●"/>
            </a:pPr>
            <a:r>
              <a:rPr lang="en"/>
              <a:t>Multiphasic scaffolds combine multiple materials, structures, and biofunctions</a:t>
            </a:r>
            <a:endParaRPr/>
          </a:p>
          <a:p>
            <a:pPr indent="-323850" lvl="0" marL="457200" rtl="0" algn="l">
              <a:spcBef>
                <a:spcPts val="0"/>
              </a:spcBef>
              <a:spcAft>
                <a:spcPts val="0"/>
              </a:spcAft>
              <a:buSzPts val="1500"/>
              <a:buChar char="●"/>
            </a:pPr>
            <a:r>
              <a:rPr lang="en"/>
              <a:t>Enable complex tissue regeneration at functional interfaces (e.g., bone–ligament)</a:t>
            </a:r>
            <a:endParaRPr/>
          </a:p>
          <a:p>
            <a:pPr indent="-323850" lvl="0" marL="457200" rtl="0" algn="l">
              <a:spcBef>
                <a:spcPts val="0"/>
              </a:spcBef>
              <a:spcAft>
                <a:spcPts val="0"/>
              </a:spcAft>
              <a:buSzPts val="1500"/>
              <a:buChar char="●"/>
            </a:pPr>
            <a:r>
              <a:rPr lang="en"/>
              <a:t>Commonly integrate AM (solid phase) and electrospinning (soft ECM-like phase)</a:t>
            </a:r>
            <a:endParaRPr/>
          </a:p>
          <a:p>
            <a:pPr indent="-323850" lvl="0" marL="457200" rtl="0" algn="l">
              <a:spcBef>
                <a:spcPts val="0"/>
              </a:spcBef>
              <a:spcAft>
                <a:spcPts val="0"/>
              </a:spcAft>
              <a:buSzPts val="1500"/>
              <a:buChar char="●"/>
            </a:pPr>
            <a:r>
              <a:rPr lang="en"/>
              <a:t>Example: Biphasic scaffold for alveolar bone/periodontal ligament regeneration</a:t>
            </a:r>
            <a:endParaRPr/>
          </a:p>
          <a:p>
            <a:pPr indent="-330200" lvl="1" marL="914400" rtl="0" algn="l">
              <a:spcBef>
                <a:spcPts val="0"/>
              </a:spcBef>
              <a:spcAft>
                <a:spcPts val="0"/>
              </a:spcAft>
              <a:buSzPts val="1600"/>
              <a:buChar char="○"/>
            </a:pPr>
            <a:r>
              <a:rPr lang="en"/>
              <a:t>AM scaffold for bone support</a:t>
            </a:r>
            <a:endParaRPr/>
          </a:p>
          <a:p>
            <a:pPr indent="-330200" lvl="1" marL="914400" rtl="0" algn="l">
              <a:spcBef>
                <a:spcPts val="0"/>
              </a:spcBef>
              <a:spcAft>
                <a:spcPts val="0"/>
              </a:spcAft>
              <a:buSzPts val="1600"/>
              <a:buChar char="○"/>
            </a:pPr>
            <a:r>
              <a:rPr lang="en"/>
              <a:t>ES membrane for fibroblast adhesion &amp; ligament integration</a:t>
            </a:r>
            <a:endParaRPr/>
          </a:p>
          <a:p>
            <a:pPr indent="-323850" lvl="0" marL="457200" rtl="0" algn="l">
              <a:spcBef>
                <a:spcPts val="0"/>
              </a:spcBef>
              <a:spcAft>
                <a:spcPts val="0"/>
              </a:spcAft>
              <a:buSzPts val="1500"/>
              <a:buChar char="●"/>
            </a:pPr>
            <a:r>
              <a:rPr lang="en"/>
              <a:t>Surface-modified implants (FDM + ES coatings) enhance cell attachment &amp; viability</a:t>
            </a:r>
            <a:endParaRPr/>
          </a:p>
          <a:p>
            <a:pPr indent="-330200" lvl="1" marL="914400" rtl="0" algn="l">
              <a:spcBef>
                <a:spcPts val="0"/>
              </a:spcBef>
              <a:spcAft>
                <a:spcPts val="0"/>
              </a:spcAft>
              <a:buSzPts val="1600"/>
              <a:buChar char="○"/>
            </a:pPr>
            <a:r>
              <a:rPr lang="en"/>
              <a:t>Over 90% viability with PVA-nHA nanofiber coatings</a:t>
            </a:r>
            <a:endParaRPr/>
          </a:p>
        </p:txBody>
      </p:sp>
      <p:pic>
        <p:nvPicPr>
          <p:cNvPr id="353" name="Google Shape;353;p24"/>
          <p:cNvPicPr preferRelativeResize="0"/>
          <p:nvPr/>
        </p:nvPicPr>
        <p:blipFill>
          <a:blip r:embed="rId3">
            <a:alphaModFix/>
          </a:blip>
          <a:stretch>
            <a:fillRect/>
          </a:stretch>
        </p:blipFill>
        <p:spPr>
          <a:xfrm>
            <a:off x="102900" y="2785125"/>
            <a:ext cx="2095500" cy="2247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59" name="Google Shape;359;p25"/>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0" name="Google Shape;360;p25" title="Screenshot 2025-06-19 102006.png"/>
          <p:cNvPicPr preferRelativeResize="0"/>
          <p:nvPr/>
        </p:nvPicPr>
        <p:blipFill>
          <a:blip r:embed="rId3">
            <a:alphaModFix/>
          </a:blip>
          <a:stretch>
            <a:fillRect/>
          </a:stretch>
        </p:blipFill>
        <p:spPr>
          <a:xfrm>
            <a:off x="1388688" y="201825"/>
            <a:ext cx="6860724" cy="4892599"/>
          </a:xfrm>
          <a:prstGeom prst="rect">
            <a:avLst/>
          </a:prstGeom>
          <a:noFill/>
          <a:ln>
            <a:noFill/>
          </a:ln>
        </p:spPr>
      </p:pic>
      <p:sp>
        <p:nvSpPr>
          <p:cNvPr id="361" name="Google Shape;361;p25"/>
          <p:cNvSpPr txBox="1"/>
          <p:nvPr/>
        </p:nvSpPr>
        <p:spPr>
          <a:xfrm>
            <a:off x="8326625" y="2432575"/>
            <a:ext cx="914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6"/>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550"/>
              <a:t>B) </a:t>
            </a:r>
            <a:r>
              <a:rPr lang="en" sz="2550"/>
              <a:t>Fabrication Level: Merging Different Scales into one Scaffold</a:t>
            </a:r>
            <a:endParaRPr sz="2550"/>
          </a:p>
          <a:p>
            <a:pPr indent="0" lvl="0" marL="0" rtl="0" algn="l">
              <a:spcBef>
                <a:spcPts val="0"/>
              </a:spcBef>
              <a:spcAft>
                <a:spcPts val="0"/>
              </a:spcAft>
              <a:buNone/>
            </a:pPr>
            <a:r>
              <a:t/>
            </a:r>
            <a:endParaRPr/>
          </a:p>
        </p:txBody>
      </p:sp>
      <p:sp>
        <p:nvSpPr>
          <p:cNvPr id="367" name="Google Shape;367;p26"/>
          <p:cNvSpPr txBox="1"/>
          <p:nvPr>
            <p:ph idx="1" type="body"/>
          </p:nvPr>
        </p:nvSpPr>
        <p:spPr>
          <a:xfrm>
            <a:off x="2053300" y="1469900"/>
            <a:ext cx="7090800" cy="33552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SzPts val="1500"/>
              <a:buChar char="●"/>
            </a:pPr>
            <a:r>
              <a:rPr lang="en"/>
              <a:t>Cell seeding efficiency is limited by AM’s low resolution</a:t>
            </a:r>
            <a:endParaRPr/>
          </a:p>
          <a:p>
            <a:pPr indent="-323850" lvl="0" marL="457200" rtl="0" algn="l">
              <a:spcBef>
                <a:spcPts val="0"/>
              </a:spcBef>
              <a:spcAft>
                <a:spcPts val="0"/>
              </a:spcAft>
              <a:buSzPts val="1500"/>
              <a:buChar char="●"/>
            </a:pPr>
            <a:r>
              <a:rPr lang="en"/>
              <a:t>Hybrid scaffolds integrate submicron CM features (e.g., electrospun fibers) into AM structures</a:t>
            </a:r>
            <a:endParaRPr/>
          </a:p>
          <a:p>
            <a:pPr indent="-323850" lvl="0" marL="457200" rtl="0" algn="l">
              <a:spcBef>
                <a:spcPts val="0"/>
              </a:spcBef>
              <a:spcAft>
                <a:spcPts val="0"/>
              </a:spcAft>
              <a:buSzPts val="1500"/>
              <a:buChar char="●"/>
            </a:pPr>
            <a:r>
              <a:rPr lang="en"/>
              <a:t>Benefits:</a:t>
            </a:r>
            <a:endParaRPr/>
          </a:p>
          <a:p>
            <a:pPr indent="-330200" lvl="1" marL="914400" rtl="0" algn="l">
              <a:spcBef>
                <a:spcPts val="0"/>
              </a:spcBef>
              <a:spcAft>
                <a:spcPts val="0"/>
              </a:spcAft>
              <a:buSzPts val="1600"/>
              <a:buChar char="○"/>
            </a:pPr>
            <a:r>
              <a:rPr lang="en"/>
              <a:t>Better cell entrapment, proliferation, and ECM production</a:t>
            </a:r>
            <a:endParaRPr/>
          </a:p>
          <a:p>
            <a:pPr indent="-330200" lvl="1" marL="914400" rtl="0" algn="l">
              <a:spcBef>
                <a:spcPts val="0"/>
              </a:spcBef>
              <a:spcAft>
                <a:spcPts val="0"/>
              </a:spcAft>
              <a:buSzPts val="1600"/>
              <a:buChar char="○"/>
            </a:pPr>
            <a:r>
              <a:rPr lang="en"/>
              <a:t>Improved biochemical signaling and microenvironments</a:t>
            </a:r>
            <a:endParaRPr/>
          </a:p>
          <a:p>
            <a:pPr indent="-323850" lvl="0" marL="457200" rtl="0" algn="l">
              <a:spcBef>
                <a:spcPts val="0"/>
              </a:spcBef>
              <a:spcAft>
                <a:spcPts val="0"/>
              </a:spcAft>
              <a:buSzPts val="1500"/>
              <a:buChar char="●"/>
            </a:pPr>
            <a:r>
              <a:rPr lang="en"/>
              <a:t>Example:</a:t>
            </a:r>
            <a:endParaRPr/>
          </a:p>
          <a:p>
            <a:pPr indent="-330200" lvl="1" marL="914400" rtl="0" algn="l">
              <a:spcBef>
                <a:spcPts val="0"/>
              </a:spcBef>
              <a:spcAft>
                <a:spcPts val="0"/>
              </a:spcAft>
              <a:buSzPts val="1600"/>
              <a:buChar char="○"/>
            </a:pPr>
            <a:r>
              <a:rPr lang="en"/>
              <a:t>G</a:t>
            </a:r>
            <a:r>
              <a:rPr lang="en"/>
              <a:t>lycosaminoglycan (GAG) content doubled when electrospun layers added to AM scaffolds</a:t>
            </a:r>
            <a:endParaRPr/>
          </a:p>
          <a:p>
            <a:pPr indent="-323850" lvl="0" marL="457200" rtl="0" algn="l">
              <a:spcBef>
                <a:spcPts val="0"/>
              </a:spcBef>
              <a:spcAft>
                <a:spcPts val="0"/>
              </a:spcAft>
              <a:buSzPts val="1500"/>
              <a:buChar char="●"/>
            </a:pPr>
            <a:r>
              <a:rPr lang="en"/>
              <a:t>Techniques used:</a:t>
            </a:r>
            <a:endParaRPr/>
          </a:p>
          <a:p>
            <a:pPr indent="-330200" lvl="1" marL="914400" rtl="0" algn="l">
              <a:spcBef>
                <a:spcPts val="0"/>
              </a:spcBef>
              <a:spcAft>
                <a:spcPts val="0"/>
              </a:spcAft>
              <a:buSzPts val="1600"/>
              <a:buChar char="○"/>
            </a:pPr>
            <a:r>
              <a:rPr lang="en"/>
              <a:t>Electrospinning, freeze-drying, electrostatic self-assembly, FDM + ES embedding</a:t>
            </a:r>
            <a:endParaRPr/>
          </a:p>
        </p:txBody>
      </p:sp>
      <p:pic>
        <p:nvPicPr>
          <p:cNvPr id="368" name="Google Shape;368;p26"/>
          <p:cNvPicPr preferRelativeResize="0"/>
          <p:nvPr/>
        </p:nvPicPr>
        <p:blipFill>
          <a:blip r:embed="rId3">
            <a:alphaModFix/>
          </a:blip>
          <a:stretch>
            <a:fillRect/>
          </a:stretch>
        </p:blipFill>
        <p:spPr>
          <a:xfrm>
            <a:off x="80300" y="2914650"/>
            <a:ext cx="2076450" cy="22288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74" name="Google Shape;374;p27"/>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5" name="Google Shape;375;p27" title="Screenshot 2025-06-19 104736.png"/>
          <p:cNvPicPr preferRelativeResize="0"/>
          <p:nvPr/>
        </p:nvPicPr>
        <p:blipFill>
          <a:blip r:embed="rId3">
            <a:alphaModFix/>
          </a:blip>
          <a:stretch>
            <a:fillRect/>
          </a:stretch>
        </p:blipFill>
        <p:spPr>
          <a:xfrm>
            <a:off x="180226" y="1523513"/>
            <a:ext cx="8783549" cy="2343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8"/>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a:t>
            </a:r>
            <a:r>
              <a:rPr lang="en"/>
              <a:t>Technique Level: Blending Processes Within One Hybrid Machine</a:t>
            </a:r>
            <a:endParaRPr/>
          </a:p>
          <a:p>
            <a:pPr indent="0" lvl="0" marL="0" rtl="0" algn="l">
              <a:spcBef>
                <a:spcPts val="0"/>
              </a:spcBef>
              <a:spcAft>
                <a:spcPts val="0"/>
              </a:spcAft>
              <a:buNone/>
            </a:pPr>
            <a:r>
              <a:t/>
            </a:r>
            <a:endParaRPr/>
          </a:p>
        </p:txBody>
      </p:sp>
      <p:sp>
        <p:nvSpPr>
          <p:cNvPr id="381" name="Google Shape;381;p28"/>
          <p:cNvSpPr txBox="1"/>
          <p:nvPr>
            <p:ph idx="1" type="body"/>
          </p:nvPr>
        </p:nvSpPr>
        <p:spPr>
          <a:xfrm>
            <a:off x="2023900" y="1469875"/>
            <a:ext cx="7030500" cy="3355200"/>
          </a:xfrm>
          <a:prstGeom prst="rect">
            <a:avLst/>
          </a:prstGeom>
        </p:spPr>
        <p:txBody>
          <a:bodyPr anchorCtr="0" anchor="t" bIns="91425" lIns="91425" spcFirstLastPara="1" rIns="91425" wrap="square" tIns="91425">
            <a:normAutofit fontScale="92500" lnSpcReduction="10000"/>
          </a:bodyPr>
          <a:lstStyle/>
          <a:p>
            <a:pPr indent="-316706" lvl="0" marL="457200" rtl="0" algn="l">
              <a:spcBef>
                <a:spcPts val="0"/>
              </a:spcBef>
              <a:spcAft>
                <a:spcPts val="0"/>
              </a:spcAft>
              <a:buSzPct val="100000"/>
              <a:buChar char="●"/>
            </a:pPr>
            <a:r>
              <a:rPr lang="en"/>
              <a:t>Limitations of AM:</a:t>
            </a:r>
            <a:endParaRPr/>
          </a:p>
          <a:p>
            <a:pPr indent="-322580" lvl="1" marL="914400" rtl="0" algn="l">
              <a:spcBef>
                <a:spcPts val="0"/>
              </a:spcBef>
              <a:spcAft>
                <a:spcPts val="0"/>
              </a:spcAft>
              <a:buSzPct val="100000"/>
              <a:buChar char="○"/>
            </a:pPr>
            <a:r>
              <a:rPr lang="en"/>
              <a:t>Incompatibility with porogen leaching and local-pore techniques</a:t>
            </a:r>
            <a:endParaRPr/>
          </a:p>
          <a:p>
            <a:pPr indent="-316706" lvl="0" marL="457200" rtl="0" algn="l">
              <a:spcBef>
                <a:spcPts val="0"/>
              </a:spcBef>
              <a:spcAft>
                <a:spcPts val="0"/>
              </a:spcAft>
              <a:buSzPct val="100000"/>
              <a:buChar char="●"/>
            </a:pPr>
            <a:r>
              <a:rPr lang="en"/>
              <a:t>Solutions &amp; Innovations:</a:t>
            </a:r>
            <a:endParaRPr/>
          </a:p>
          <a:p>
            <a:pPr indent="-322580" lvl="1" marL="914400" rtl="0" algn="l">
              <a:spcBef>
                <a:spcPts val="0"/>
              </a:spcBef>
              <a:spcAft>
                <a:spcPts val="0"/>
              </a:spcAft>
              <a:buSzPct val="100000"/>
              <a:buChar char="○"/>
            </a:pPr>
            <a:r>
              <a:rPr lang="en"/>
              <a:t>AM-compatible porogen systems and indirect AM methods</a:t>
            </a:r>
            <a:endParaRPr/>
          </a:p>
          <a:p>
            <a:pPr indent="-322580" lvl="1" marL="914400" rtl="0" algn="l">
              <a:spcBef>
                <a:spcPts val="0"/>
              </a:spcBef>
              <a:spcAft>
                <a:spcPts val="0"/>
              </a:spcAft>
              <a:buSzPct val="100000"/>
              <a:buChar char="○"/>
            </a:pPr>
            <a:r>
              <a:rPr lang="en"/>
              <a:t>Freeze-drying + AM: Combines micro- &amp; submillimeter pores for better cell adhesion</a:t>
            </a:r>
            <a:endParaRPr/>
          </a:p>
          <a:p>
            <a:pPr indent="-322580" lvl="1" marL="914400" rtl="0" algn="l">
              <a:spcBef>
                <a:spcPts val="0"/>
              </a:spcBef>
              <a:spcAft>
                <a:spcPts val="0"/>
              </a:spcAft>
              <a:buSzPct val="100000"/>
              <a:buChar char="○"/>
            </a:pPr>
            <a:r>
              <a:rPr lang="en"/>
              <a:t>Techniques:</a:t>
            </a:r>
            <a:endParaRPr/>
          </a:p>
          <a:p>
            <a:pPr indent="-322580" lvl="2" marL="1371600" rtl="0" algn="l">
              <a:spcBef>
                <a:spcPts val="0"/>
              </a:spcBef>
              <a:spcAft>
                <a:spcPts val="0"/>
              </a:spcAft>
              <a:buSzPct val="100000"/>
              <a:buChar char="■"/>
            </a:pPr>
            <a:r>
              <a:rPr lang="en"/>
              <a:t>LFDM, LDM, cryogenic direct-plotting, RFP</a:t>
            </a:r>
            <a:endParaRPr/>
          </a:p>
          <a:p>
            <a:pPr indent="-322580" lvl="2" marL="1371600" rtl="0" algn="l">
              <a:spcBef>
                <a:spcPts val="0"/>
              </a:spcBef>
              <a:spcAft>
                <a:spcPts val="0"/>
              </a:spcAft>
              <a:buSzPct val="100000"/>
              <a:buChar char="■"/>
            </a:pPr>
            <a:r>
              <a:rPr lang="en"/>
              <a:t>Example: Cryo-printed collagen scaffold with &gt;96% porosity and strong cell migration</a:t>
            </a:r>
            <a:endParaRPr/>
          </a:p>
          <a:p>
            <a:pPr indent="-316706" lvl="0" marL="457200" rtl="0" algn="l">
              <a:spcBef>
                <a:spcPts val="0"/>
              </a:spcBef>
              <a:spcAft>
                <a:spcPts val="0"/>
              </a:spcAft>
              <a:buSzPct val="100000"/>
              <a:buChar char="●"/>
            </a:pPr>
            <a:r>
              <a:rPr lang="en"/>
              <a:t>Other novel methods:</a:t>
            </a:r>
            <a:endParaRPr/>
          </a:p>
          <a:p>
            <a:pPr indent="-322580" lvl="1" marL="914400" rtl="0" algn="l">
              <a:spcBef>
                <a:spcPts val="0"/>
              </a:spcBef>
              <a:spcAft>
                <a:spcPts val="0"/>
              </a:spcAft>
              <a:buSzPct val="100000"/>
              <a:buChar char="○"/>
            </a:pPr>
            <a:r>
              <a:rPr lang="en"/>
              <a:t>Computer-assisted wet spinning (CAWS): Spongy, bioactive structures</a:t>
            </a:r>
            <a:endParaRPr/>
          </a:p>
          <a:p>
            <a:pPr indent="-322580" lvl="1" marL="914400" rtl="0" algn="l">
              <a:spcBef>
                <a:spcPts val="0"/>
              </a:spcBef>
              <a:spcAft>
                <a:spcPts val="0"/>
              </a:spcAft>
              <a:buSzPct val="100000"/>
              <a:buChar char="○"/>
            </a:pPr>
            <a:r>
              <a:rPr lang="en"/>
              <a:t>Melt electrospinning direct writing: High-resolution fiber deposition</a:t>
            </a:r>
            <a:endParaRPr/>
          </a:p>
        </p:txBody>
      </p:sp>
      <p:pic>
        <p:nvPicPr>
          <p:cNvPr id="382" name="Google Shape;382;p28"/>
          <p:cNvPicPr preferRelativeResize="0"/>
          <p:nvPr/>
        </p:nvPicPr>
        <p:blipFill>
          <a:blip r:embed="rId3">
            <a:alphaModFix/>
          </a:blip>
          <a:stretch>
            <a:fillRect/>
          </a:stretch>
        </p:blipFill>
        <p:spPr>
          <a:xfrm>
            <a:off x="89025" y="2826600"/>
            <a:ext cx="2000250" cy="2228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88" name="Google Shape;388;p29"/>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9" name="Google Shape;389;p29"/>
          <p:cNvPicPr preferRelativeResize="0"/>
          <p:nvPr/>
        </p:nvPicPr>
        <p:blipFill>
          <a:blip r:embed="rId3">
            <a:alphaModFix/>
          </a:blip>
          <a:stretch>
            <a:fillRect/>
          </a:stretch>
        </p:blipFill>
        <p:spPr>
          <a:xfrm>
            <a:off x="142120" y="405040"/>
            <a:ext cx="8859775" cy="43334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Materials for Bioprinting</a:t>
            </a:r>
            <a:endParaRPr/>
          </a:p>
        </p:txBody>
      </p:sp>
      <p:sp>
        <p:nvSpPr>
          <p:cNvPr id="395" name="Google Shape;395;p30"/>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Printability: accurate, controlled deposition</a:t>
            </a:r>
            <a:endParaRPr/>
          </a:p>
          <a:p>
            <a:pPr indent="-323850" lvl="0" marL="457200" rtl="0" algn="l">
              <a:spcBef>
                <a:spcPts val="0"/>
              </a:spcBef>
              <a:spcAft>
                <a:spcPts val="0"/>
              </a:spcAft>
              <a:buSzPts val="1500"/>
              <a:buChar char="●"/>
            </a:pPr>
            <a:r>
              <a:rPr lang="en"/>
              <a:t>Biocompatibility: integrates safely, degrades in sync with tissue regeneration</a:t>
            </a:r>
            <a:endParaRPr/>
          </a:p>
          <a:p>
            <a:pPr indent="-323850" lvl="0" marL="457200" rtl="0" algn="l">
              <a:spcBef>
                <a:spcPts val="0"/>
              </a:spcBef>
              <a:spcAft>
                <a:spcPts val="0"/>
              </a:spcAft>
              <a:buSzPts val="1500"/>
              <a:buChar char="●"/>
            </a:pPr>
            <a:r>
              <a:rPr lang="en"/>
              <a:t>Mechanical Properties: maintains structure for cell attachment</a:t>
            </a:r>
            <a:endParaRPr/>
          </a:p>
          <a:p>
            <a:pPr indent="-323850" lvl="0" marL="457200" rtl="0" algn="l">
              <a:spcBef>
                <a:spcPts val="0"/>
              </a:spcBef>
              <a:spcAft>
                <a:spcPts val="0"/>
              </a:spcAft>
              <a:buSzPts val="1500"/>
              <a:buChar char="●"/>
            </a:pPr>
            <a:r>
              <a:rPr lang="en"/>
              <a:t>Material Types:</a:t>
            </a:r>
            <a:endParaRPr/>
          </a:p>
          <a:p>
            <a:pPr indent="-330200" lvl="1" marL="914400" rtl="0" algn="l">
              <a:spcBef>
                <a:spcPts val="0"/>
              </a:spcBef>
              <a:spcAft>
                <a:spcPts val="0"/>
              </a:spcAft>
              <a:buSzPts val="1600"/>
              <a:buChar char="○"/>
            </a:pPr>
            <a:r>
              <a:rPr lang="en"/>
              <a:t>Natural</a:t>
            </a:r>
            <a:r>
              <a:rPr lang="en"/>
              <a:t> </a:t>
            </a:r>
            <a:r>
              <a:rPr lang="en"/>
              <a:t>polymers: collagen, alginate, fibrin, etc.</a:t>
            </a:r>
            <a:endParaRPr/>
          </a:p>
          <a:p>
            <a:pPr indent="-330200" lvl="1" marL="914400" rtl="0" algn="l">
              <a:spcBef>
                <a:spcPts val="0"/>
              </a:spcBef>
              <a:spcAft>
                <a:spcPts val="0"/>
              </a:spcAft>
              <a:buSzPts val="1600"/>
              <a:buChar char="○"/>
            </a:pPr>
            <a:r>
              <a:rPr lang="en"/>
              <a:t>Synthetic polymers: customizable but less biocompatible</a:t>
            </a:r>
            <a:endParaRPr/>
          </a:p>
          <a:p>
            <a:pPr indent="-330200" lvl="1" marL="914400" rtl="0" algn="l">
              <a:spcBef>
                <a:spcPts val="0"/>
              </a:spcBef>
              <a:spcAft>
                <a:spcPts val="0"/>
              </a:spcAft>
              <a:buSzPts val="1600"/>
              <a:buChar char="○"/>
            </a:pPr>
            <a:r>
              <a:rPr lang="en"/>
              <a:t>dECM: mimics native tissue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Cell Sources in Bioprinting</a:t>
            </a:r>
            <a:endParaRPr/>
          </a:p>
        </p:txBody>
      </p:sp>
      <p:sp>
        <p:nvSpPr>
          <p:cNvPr id="401" name="Google Shape;401;p31"/>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Multiple cell types often needed</a:t>
            </a:r>
            <a:endParaRPr/>
          </a:p>
          <a:p>
            <a:pPr indent="-323850" lvl="0" marL="457200" rtl="0" algn="l">
              <a:spcBef>
                <a:spcPts val="0"/>
              </a:spcBef>
              <a:spcAft>
                <a:spcPts val="0"/>
              </a:spcAft>
              <a:buSzPts val="1500"/>
              <a:buChar char="●"/>
            </a:pPr>
            <a:r>
              <a:rPr lang="en"/>
              <a:t>Must maintain:</a:t>
            </a:r>
            <a:endParaRPr/>
          </a:p>
          <a:p>
            <a:pPr indent="-330200" lvl="1" marL="914400" rtl="0" algn="l">
              <a:spcBef>
                <a:spcPts val="0"/>
              </a:spcBef>
              <a:spcAft>
                <a:spcPts val="0"/>
              </a:spcAft>
              <a:buSzPts val="1600"/>
              <a:buChar char="○"/>
            </a:pPr>
            <a:r>
              <a:rPr lang="en"/>
              <a:t>High initial proliferation</a:t>
            </a:r>
            <a:endParaRPr/>
          </a:p>
          <a:p>
            <a:pPr indent="-330200" lvl="1" marL="914400" rtl="0" algn="l">
              <a:spcBef>
                <a:spcPts val="0"/>
              </a:spcBef>
              <a:spcAft>
                <a:spcPts val="0"/>
              </a:spcAft>
              <a:buSzPts val="1600"/>
              <a:buChar char="○"/>
            </a:pPr>
            <a:r>
              <a:rPr lang="en"/>
              <a:t>Long-term homeostasis</a:t>
            </a:r>
            <a:endParaRPr/>
          </a:p>
          <a:p>
            <a:pPr indent="-323850" lvl="0" marL="457200" rtl="0" algn="l">
              <a:spcBef>
                <a:spcPts val="0"/>
              </a:spcBef>
              <a:spcAft>
                <a:spcPts val="0"/>
              </a:spcAft>
              <a:buSzPts val="1500"/>
              <a:buChar char="●"/>
            </a:pPr>
            <a:r>
              <a:rPr lang="en"/>
              <a:t>Patient-derived cells reduce immune rejection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407" name="Google Shape;407;p32"/>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08" name="Google Shape;408;p32" title="Screenshot 2025-06-19 112227.png"/>
          <p:cNvPicPr preferRelativeResize="0"/>
          <p:nvPr/>
        </p:nvPicPr>
        <p:blipFill>
          <a:blip r:embed="rId3">
            <a:alphaModFix/>
          </a:blip>
          <a:stretch>
            <a:fillRect/>
          </a:stretch>
        </p:blipFill>
        <p:spPr>
          <a:xfrm>
            <a:off x="986300" y="66837"/>
            <a:ext cx="7171399" cy="50098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414" name="Google Shape;414;p33"/>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15" name="Google Shape;415;p33" title="Screenshot 2025-06-19 112836.png"/>
          <p:cNvPicPr preferRelativeResize="0"/>
          <p:nvPr/>
        </p:nvPicPr>
        <p:blipFill rotWithShape="1">
          <a:blip r:embed="rId3">
            <a:alphaModFix/>
          </a:blip>
          <a:srcRect b="0" l="2634" r="-904" t="0"/>
          <a:stretch/>
        </p:blipFill>
        <p:spPr>
          <a:xfrm>
            <a:off x="119362" y="805575"/>
            <a:ext cx="8905273" cy="3303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Medical Applications</a:t>
            </a:r>
            <a:endParaRPr/>
          </a:p>
        </p:txBody>
      </p:sp>
      <p:sp>
        <p:nvSpPr>
          <p:cNvPr id="421" name="Google Shape;421;p34"/>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fontScale="92500" lnSpcReduction="20000"/>
          </a:bodyPr>
          <a:lstStyle/>
          <a:p>
            <a:pPr indent="-316706" lvl="0" marL="457200" rtl="0" algn="l">
              <a:spcBef>
                <a:spcPts val="0"/>
              </a:spcBef>
              <a:spcAft>
                <a:spcPts val="0"/>
              </a:spcAft>
              <a:buSzPct val="100000"/>
              <a:buChar char="●"/>
            </a:pPr>
            <a:r>
              <a:rPr lang="en"/>
              <a:t>Tissue Regeneration:</a:t>
            </a:r>
            <a:endParaRPr/>
          </a:p>
          <a:p>
            <a:pPr indent="-322580" lvl="1" marL="914400" rtl="0" algn="l">
              <a:spcBef>
                <a:spcPts val="0"/>
              </a:spcBef>
              <a:spcAft>
                <a:spcPts val="0"/>
              </a:spcAft>
              <a:buSzPct val="100000"/>
              <a:buChar char="○"/>
            </a:pPr>
            <a:r>
              <a:rPr lang="en"/>
              <a:t>Blood vessels, heart valves, bones, cartilage, liver, nerves, and skin</a:t>
            </a:r>
            <a:endParaRPr/>
          </a:p>
          <a:p>
            <a:pPr indent="-322580" lvl="1" marL="914400" rtl="0" algn="l">
              <a:spcBef>
                <a:spcPts val="0"/>
              </a:spcBef>
              <a:spcAft>
                <a:spcPts val="0"/>
              </a:spcAft>
              <a:buSzPct val="100000"/>
              <a:buChar char="○"/>
            </a:pPr>
            <a:r>
              <a:rPr lang="en"/>
              <a:t>Notable progress in vascular channels &amp; tri-leaflet heart valves</a:t>
            </a:r>
            <a:endParaRPr/>
          </a:p>
          <a:p>
            <a:pPr indent="-316706" lvl="0" marL="457200" rtl="0" algn="l">
              <a:spcBef>
                <a:spcPts val="0"/>
              </a:spcBef>
              <a:spcAft>
                <a:spcPts val="0"/>
              </a:spcAft>
              <a:buSzPct val="100000"/>
              <a:buChar char="●"/>
            </a:pPr>
            <a:r>
              <a:rPr lang="en"/>
              <a:t>Bone &amp; Cartilage Engineering:</a:t>
            </a:r>
            <a:endParaRPr/>
          </a:p>
          <a:p>
            <a:pPr indent="-322580" lvl="1" marL="914400" rtl="0" algn="l">
              <a:spcBef>
                <a:spcPts val="0"/>
              </a:spcBef>
              <a:spcAft>
                <a:spcPts val="0"/>
              </a:spcAft>
              <a:buSzPct val="100000"/>
              <a:buChar char="○"/>
            </a:pPr>
            <a:r>
              <a:rPr lang="en"/>
              <a:t>Bioprinted scaffolds with ECM, calcium phosphates, and CAP treatments</a:t>
            </a:r>
            <a:endParaRPr/>
          </a:p>
          <a:p>
            <a:pPr indent="-322580" lvl="1" marL="914400" rtl="0" algn="l">
              <a:spcBef>
                <a:spcPts val="0"/>
              </a:spcBef>
              <a:spcAft>
                <a:spcPts val="0"/>
              </a:spcAft>
              <a:buSzPct val="100000"/>
              <a:buChar char="○"/>
            </a:pPr>
            <a:r>
              <a:rPr lang="en"/>
              <a:t>High structural accuracy and enhanced cell interaction</a:t>
            </a:r>
            <a:endParaRPr/>
          </a:p>
          <a:p>
            <a:pPr indent="-316706" lvl="0" marL="457200" rtl="0" algn="l">
              <a:spcBef>
                <a:spcPts val="0"/>
              </a:spcBef>
              <a:spcAft>
                <a:spcPts val="0"/>
              </a:spcAft>
              <a:buSzPct val="100000"/>
              <a:buChar char="●"/>
            </a:pPr>
            <a:r>
              <a:rPr lang="en"/>
              <a:t>Skin &amp; Liver Fabrication:</a:t>
            </a:r>
            <a:endParaRPr/>
          </a:p>
          <a:p>
            <a:pPr indent="-322580" lvl="1" marL="914400" rtl="0" algn="l">
              <a:spcBef>
                <a:spcPts val="0"/>
              </a:spcBef>
              <a:spcAft>
                <a:spcPts val="0"/>
              </a:spcAft>
              <a:buSzPct val="100000"/>
              <a:buChar char="○"/>
            </a:pPr>
            <a:r>
              <a:rPr lang="en"/>
              <a:t>LAB-based layered skin grafts with fibroblasts and keratinocytes</a:t>
            </a:r>
            <a:endParaRPr/>
          </a:p>
          <a:p>
            <a:pPr indent="-322580" lvl="1" marL="914400" rtl="0" algn="l">
              <a:spcBef>
                <a:spcPts val="0"/>
              </a:spcBef>
              <a:spcAft>
                <a:spcPts val="0"/>
              </a:spcAft>
              <a:buSzPct val="100000"/>
              <a:buChar char="○"/>
            </a:pPr>
            <a:r>
              <a:rPr lang="en"/>
              <a:t>Bioprinted liver tissue using hepatocytes; preserving function is challenging</a:t>
            </a:r>
            <a:endParaRPr/>
          </a:p>
          <a:p>
            <a:pPr indent="-316706" lvl="0" marL="457200" rtl="0" algn="l">
              <a:spcBef>
                <a:spcPts val="0"/>
              </a:spcBef>
              <a:spcAft>
                <a:spcPts val="0"/>
              </a:spcAft>
              <a:buSzPct val="100000"/>
              <a:buChar char="●"/>
            </a:pPr>
            <a:r>
              <a:rPr lang="en"/>
              <a:t>Drug Discovery &amp; Screening:</a:t>
            </a:r>
            <a:endParaRPr/>
          </a:p>
          <a:p>
            <a:pPr indent="-322580" lvl="1" marL="914400" rtl="0" algn="l">
              <a:spcBef>
                <a:spcPts val="0"/>
              </a:spcBef>
              <a:spcAft>
                <a:spcPts val="0"/>
              </a:spcAft>
              <a:buSzPct val="100000"/>
              <a:buChar char="○"/>
            </a:pPr>
            <a:r>
              <a:rPr lang="en"/>
              <a:t>Bioprinted microenvironments mimic real tissue</a:t>
            </a:r>
            <a:endParaRPr/>
          </a:p>
          <a:p>
            <a:pPr indent="-322580" lvl="1" marL="914400" rtl="0" algn="l">
              <a:spcBef>
                <a:spcPts val="0"/>
              </a:spcBef>
              <a:spcAft>
                <a:spcPts val="0"/>
              </a:spcAft>
              <a:buSzPct val="100000"/>
              <a:buChar char="○"/>
            </a:pPr>
            <a:r>
              <a:rPr lang="en"/>
              <a:t>Enables toxicity, metabolism, and disease pathophysiology testing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427" name="Google Shape;427;p35"/>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28" name="Google Shape;428;p35" title="Screenshot 2025-06-19 181627.png"/>
          <p:cNvPicPr preferRelativeResize="0"/>
          <p:nvPr/>
        </p:nvPicPr>
        <p:blipFill>
          <a:blip r:embed="rId3">
            <a:alphaModFix/>
          </a:blip>
          <a:stretch>
            <a:fillRect/>
          </a:stretch>
        </p:blipFill>
        <p:spPr>
          <a:xfrm>
            <a:off x="899251" y="108725"/>
            <a:ext cx="7461925" cy="4957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Challenges in Bioprinting</a:t>
            </a:r>
            <a:endParaRPr/>
          </a:p>
        </p:txBody>
      </p:sp>
      <p:sp>
        <p:nvSpPr>
          <p:cNvPr id="434" name="Google Shape;434;p36"/>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fontScale="85000" lnSpcReduction="20000"/>
          </a:bodyPr>
          <a:lstStyle/>
          <a:p>
            <a:pPr indent="-309563" lvl="0" marL="457200" rtl="0" algn="l">
              <a:spcBef>
                <a:spcPts val="0"/>
              </a:spcBef>
              <a:spcAft>
                <a:spcPts val="0"/>
              </a:spcAft>
              <a:buSzPct val="100000"/>
              <a:buChar char="●"/>
            </a:pPr>
            <a:r>
              <a:rPr lang="en"/>
              <a:t>Technical Challenges:</a:t>
            </a:r>
            <a:endParaRPr/>
          </a:p>
          <a:p>
            <a:pPr indent="-314960" lvl="1" marL="914400" rtl="0" algn="l">
              <a:spcBef>
                <a:spcPts val="0"/>
              </a:spcBef>
              <a:spcAft>
                <a:spcPts val="0"/>
              </a:spcAft>
              <a:buSzPct val="100000"/>
              <a:buChar char="○"/>
            </a:pPr>
            <a:r>
              <a:rPr lang="en"/>
              <a:t>Limited resolution (typically &gt;50 μm); nanoscale precision needed</a:t>
            </a:r>
            <a:endParaRPr/>
          </a:p>
          <a:p>
            <a:pPr indent="-314960" lvl="1" marL="914400" rtl="0" algn="l">
              <a:spcBef>
                <a:spcPts val="0"/>
              </a:spcBef>
              <a:spcAft>
                <a:spcPts val="0"/>
              </a:spcAft>
              <a:buSzPct val="100000"/>
              <a:buChar char="○"/>
            </a:pPr>
            <a:r>
              <a:rPr lang="en"/>
              <a:t>Slow print speeds hinder scalability &amp; bioink stability</a:t>
            </a:r>
            <a:endParaRPr/>
          </a:p>
          <a:p>
            <a:pPr indent="-314960" lvl="1" marL="914400" rtl="0" algn="l">
              <a:spcBef>
                <a:spcPts val="0"/>
              </a:spcBef>
              <a:spcAft>
                <a:spcPts val="0"/>
              </a:spcAft>
              <a:buSzPct val="100000"/>
              <a:buChar char="○"/>
            </a:pPr>
            <a:r>
              <a:rPr lang="en"/>
              <a:t>Hybrid printing needs milder, cell-safe conditions</a:t>
            </a:r>
            <a:endParaRPr/>
          </a:p>
          <a:p>
            <a:pPr indent="-309563" lvl="0" marL="457200" rtl="0" algn="l">
              <a:spcBef>
                <a:spcPts val="0"/>
              </a:spcBef>
              <a:spcAft>
                <a:spcPts val="0"/>
              </a:spcAft>
              <a:buSzPct val="100000"/>
              <a:buChar char="●"/>
            </a:pPr>
            <a:r>
              <a:rPr lang="en"/>
              <a:t>Material Challenges:</a:t>
            </a:r>
            <a:endParaRPr/>
          </a:p>
          <a:p>
            <a:pPr indent="-314960" lvl="1" marL="914400" rtl="0" algn="l">
              <a:spcBef>
                <a:spcPts val="0"/>
              </a:spcBef>
              <a:spcAft>
                <a:spcPts val="0"/>
              </a:spcAft>
              <a:buSzPct val="100000"/>
              <a:buChar char="○"/>
            </a:pPr>
            <a:r>
              <a:rPr lang="en"/>
              <a:t>Bioinks must balance biocompatibility with mechanical strength</a:t>
            </a:r>
            <a:endParaRPr/>
          </a:p>
          <a:p>
            <a:pPr indent="-314960" lvl="1" marL="914400" rtl="0" algn="l">
              <a:spcBef>
                <a:spcPts val="0"/>
              </a:spcBef>
              <a:spcAft>
                <a:spcPts val="0"/>
              </a:spcAft>
              <a:buSzPct val="100000"/>
              <a:buChar char="○"/>
            </a:pPr>
            <a:r>
              <a:rPr lang="en"/>
              <a:t>Limited variety of printable biomaterials</a:t>
            </a:r>
            <a:endParaRPr/>
          </a:p>
          <a:p>
            <a:pPr indent="-314960" lvl="1" marL="914400" rtl="0" algn="l">
              <a:spcBef>
                <a:spcPts val="0"/>
              </a:spcBef>
              <a:spcAft>
                <a:spcPts val="0"/>
              </a:spcAft>
              <a:buSzPct val="100000"/>
              <a:buChar char="○"/>
            </a:pPr>
            <a:r>
              <a:rPr lang="en"/>
              <a:t>dECM offers biomimicry, but often lacks structural support</a:t>
            </a:r>
            <a:endParaRPr/>
          </a:p>
          <a:p>
            <a:pPr indent="-309563" lvl="0" marL="457200" rtl="0" algn="l">
              <a:spcBef>
                <a:spcPts val="0"/>
              </a:spcBef>
              <a:spcAft>
                <a:spcPts val="0"/>
              </a:spcAft>
              <a:buSzPct val="100000"/>
              <a:buChar char="●"/>
            </a:pPr>
            <a:r>
              <a:rPr lang="en"/>
              <a:t>Cellular &amp; Biological Hurdles:</a:t>
            </a:r>
            <a:endParaRPr/>
          </a:p>
          <a:p>
            <a:pPr indent="-314960" lvl="1" marL="914400" rtl="0" algn="l">
              <a:spcBef>
                <a:spcPts val="0"/>
              </a:spcBef>
              <a:spcAft>
                <a:spcPts val="0"/>
              </a:spcAft>
              <a:buSzPct val="100000"/>
              <a:buChar char="○"/>
            </a:pPr>
            <a:r>
              <a:rPr lang="en"/>
              <a:t>Cells must survive printing, grow rapidly, &amp; avoid immune rejection</a:t>
            </a:r>
            <a:endParaRPr/>
          </a:p>
          <a:p>
            <a:pPr indent="-314960" lvl="1" marL="914400" rtl="0" algn="l">
              <a:spcBef>
                <a:spcPts val="0"/>
              </a:spcBef>
              <a:spcAft>
                <a:spcPts val="0"/>
              </a:spcAft>
              <a:buSzPct val="100000"/>
              <a:buChar char="○"/>
            </a:pPr>
            <a:r>
              <a:rPr lang="en"/>
              <a:t>Advances in small molecule use show promise for directed differentiation</a:t>
            </a:r>
            <a:endParaRPr/>
          </a:p>
          <a:p>
            <a:pPr indent="-309563" lvl="0" marL="457200" rtl="0" algn="l">
              <a:spcBef>
                <a:spcPts val="0"/>
              </a:spcBef>
              <a:spcAft>
                <a:spcPts val="0"/>
              </a:spcAft>
              <a:buSzPct val="100000"/>
              <a:buChar char="●"/>
            </a:pPr>
            <a:r>
              <a:rPr lang="en"/>
              <a:t>Ethical &amp; Regulatory Concerns:</a:t>
            </a:r>
            <a:endParaRPr/>
          </a:p>
          <a:p>
            <a:pPr indent="-314960" lvl="1" marL="914400" rtl="0" algn="l">
              <a:spcBef>
                <a:spcPts val="0"/>
              </a:spcBef>
              <a:spcAft>
                <a:spcPts val="0"/>
              </a:spcAft>
              <a:buSzPct val="100000"/>
              <a:buChar char="○"/>
            </a:pPr>
            <a:r>
              <a:rPr lang="en"/>
              <a:t>DIY/home bioprinting risks &amp; potential for bioterrorism</a:t>
            </a:r>
            <a:endParaRPr/>
          </a:p>
          <a:p>
            <a:pPr indent="-314960" lvl="1" marL="914400" rtl="0" algn="l">
              <a:spcBef>
                <a:spcPts val="0"/>
              </a:spcBef>
              <a:spcAft>
                <a:spcPts val="0"/>
              </a:spcAft>
              <a:buSzPct val="100000"/>
              <a:buChar char="○"/>
            </a:pPr>
            <a:r>
              <a:rPr lang="en"/>
              <a:t>Lack of global regulatory frameworks for clinical use</a:t>
            </a:r>
            <a:endParaRPr/>
          </a:p>
          <a:p>
            <a:pPr indent="-314960" lvl="1" marL="914400" rtl="0" algn="l">
              <a:spcBef>
                <a:spcPts val="0"/>
              </a:spcBef>
              <a:spcAft>
                <a:spcPts val="0"/>
              </a:spcAft>
              <a:buSzPct val="100000"/>
              <a:buChar char="○"/>
            </a:pPr>
            <a:r>
              <a:rPr lang="en"/>
              <a:t>Patient-specific ethics: testing customized organs on others?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440" name="Google Shape;440;p37"/>
          <p:cNvSpPr txBox="1"/>
          <p:nvPr>
            <p:ph idx="1" type="body"/>
          </p:nvPr>
        </p:nvSpPr>
        <p:spPr>
          <a:xfrm>
            <a:off x="1303800" y="1381700"/>
            <a:ext cx="7030500" cy="3355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Proven potential in regenerative medicine, transplantation, and drug discovery</a:t>
            </a:r>
            <a:endParaRPr/>
          </a:p>
          <a:p>
            <a:pPr indent="-323850" lvl="0" marL="457200" rtl="0" algn="l">
              <a:spcBef>
                <a:spcPts val="0"/>
              </a:spcBef>
              <a:spcAft>
                <a:spcPts val="0"/>
              </a:spcAft>
              <a:buSzPts val="1500"/>
              <a:buChar char="●"/>
            </a:pPr>
            <a:r>
              <a:rPr lang="en"/>
              <a:t>Advanced technique for building functional 3D biological structures</a:t>
            </a:r>
            <a:endParaRPr/>
          </a:p>
          <a:p>
            <a:pPr indent="-323850" lvl="0" marL="457200" rtl="0" algn="l">
              <a:spcBef>
                <a:spcPts val="0"/>
              </a:spcBef>
              <a:spcAft>
                <a:spcPts val="0"/>
              </a:spcAft>
              <a:buSzPts val="1500"/>
              <a:buChar char="●"/>
            </a:pPr>
            <a:r>
              <a:rPr lang="en"/>
              <a:t>Hybrid bioprinting enhances resolution, strength, and biological realism</a:t>
            </a:r>
            <a:endParaRPr/>
          </a:p>
          <a:p>
            <a:pPr indent="-323850" lvl="0" marL="457200" rtl="0" algn="l">
              <a:spcBef>
                <a:spcPts val="0"/>
              </a:spcBef>
              <a:spcAft>
                <a:spcPts val="0"/>
              </a:spcAft>
              <a:buSzPts val="1500"/>
              <a:buChar char="●"/>
            </a:pPr>
            <a:r>
              <a:rPr lang="en"/>
              <a:t>Continued progress needed in technology, materials, and regulatory frameworks</a:t>
            </a:r>
            <a:endParaRPr/>
          </a:p>
          <a:p>
            <a:pPr indent="-323850" lvl="0" marL="457200" rtl="0" algn="l">
              <a:spcBef>
                <a:spcPts val="0"/>
              </a:spcBef>
              <a:spcAft>
                <a:spcPts val="0"/>
              </a:spcAft>
              <a:buSzPts val="1500"/>
              <a:buChar char="●"/>
            </a:pPr>
            <a:r>
              <a:rPr lang="en"/>
              <a:t>Still emerging, but holds transformative potential for healthcare and manufacturing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Fun facts &amp; Questions?</a:t>
            </a:r>
            <a:endParaRPr/>
          </a:p>
        </p:txBody>
      </p:sp>
      <p:sp>
        <p:nvSpPr>
          <p:cNvPr id="446" name="Google Shape;446;p38"/>
          <p:cNvSpPr txBox="1"/>
          <p:nvPr>
            <p:ph idx="1" type="body"/>
          </p:nvPr>
        </p:nvSpPr>
        <p:spPr>
          <a:xfrm>
            <a:off x="939975" y="1431900"/>
            <a:ext cx="4747200" cy="3355200"/>
          </a:xfrm>
          <a:prstGeom prst="rect">
            <a:avLst/>
          </a:prstGeom>
        </p:spPr>
        <p:txBody>
          <a:bodyPr anchorCtr="0" anchor="t" bIns="91425" lIns="91425" spcFirstLastPara="1" rIns="91425" wrap="square" tIns="91425">
            <a:normAutofit fontScale="92500"/>
          </a:bodyPr>
          <a:lstStyle/>
          <a:p>
            <a:pPr indent="-316706" lvl="0" marL="457200" rtl="0" algn="l">
              <a:spcBef>
                <a:spcPts val="0"/>
              </a:spcBef>
              <a:spcAft>
                <a:spcPts val="0"/>
              </a:spcAft>
              <a:buSzPct val="100000"/>
              <a:buChar char="●"/>
            </a:pPr>
            <a:r>
              <a:rPr lang="en" u="sng">
                <a:solidFill>
                  <a:schemeClr val="hlink"/>
                </a:solidFill>
                <a:hlinkClick r:id="rId3"/>
              </a:rPr>
              <a:t>First bioprinted organs?</a:t>
            </a:r>
            <a:endParaRPr/>
          </a:p>
          <a:p>
            <a:pPr indent="-322580" lvl="1" marL="914400" rtl="0" algn="l">
              <a:spcBef>
                <a:spcPts val="0"/>
              </a:spcBef>
              <a:spcAft>
                <a:spcPts val="0"/>
              </a:spcAft>
              <a:buSzPct val="100000"/>
              <a:buChar char="○"/>
            </a:pPr>
            <a:r>
              <a:rPr lang="en"/>
              <a:t>The first bioprinted organ successfully transplanted into a human was a bladder, created in 1999 by scientists at the Wake Forest Institute for Regenerative Medicine.</a:t>
            </a:r>
            <a:endParaRPr/>
          </a:p>
          <a:p>
            <a:pPr indent="0" lvl="0" marL="914400" rtl="0" algn="l">
              <a:spcBef>
                <a:spcPts val="1200"/>
              </a:spcBef>
              <a:spcAft>
                <a:spcPts val="0"/>
              </a:spcAft>
              <a:buNone/>
            </a:pPr>
            <a:r>
              <a:t/>
            </a:r>
            <a:endParaRPr/>
          </a:p>
          <a:p>
            <a:pPr indent="-316706" lvl="0" marL="457200" rtl="0" algn="l">
              <a:spcBef>
                <a:spcPts val="1200"/>
              </a:spcBef>
              <a:spcAft>
                <a:spcPts val="0"/>
              </a:spcAft>
              <a:buSzPct val="100000"/>
              <a:buChar char="●"/>
            </a:pPr>
            <a:r>
              <a:rPr lang="en" u="sng">
                <a:solidFill>
                  <a:schemeClr val="hlink"/>
                </a:solidFill>
                <a:hlinkClick r:id="rId4"/>
              </a:rPr>
              <a:t>How many </a:t>
            </a:r>
            <a:r>
              <a:rPr lang="en" u="sng">
                <a:solidFill>
                  <a:schemeClr val="hlink"/>
                </a:solidFill>
                <a:hlinkClick r:id="rId5"/>
              </a:rPr>
              <a:t>b</a:t>
            </a:r>
            <a:r>
              <a:rPr lang="en" u="sng">
                <a:solidFill>
                  <a:schemeClr val="hlink"/>
                </a:solidFill>
                <a:hlinkClick r:id="rId6"/>
              </a:rPr>
              <a:t>ioprinted implants used so far?</a:t>
            </a:r>
            <a:endParaRPr/>
          </a:p>
          <a:p>
            <a:pPr indent="-322580" lvl="1" marL="914400" rtl="0" algn="l">
              <a:spcBef>
                <a:spcPts val="0"/>
              </a:spcBef>
              <a:spcAft>
                <a:spcPts val="0"/>
              </a:spcAft>
              <a:buSzPct val="100000"/>
              <a:buChar char="○"/>
            </a:pPr>
            <a:r>
              <a:rPr lang="en"/>
              <a:t>6 different organs in 27 different patients</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pic>
        <p:nvPicPr>
          <p:cNvPr id="447" name="Google Shape;447;p38" title="Screenshot 2025-06-19 205519.png"/>
          <p:cNvPicPr preferRelativeResize="0"/>
          <p:nvPr/>
        </p:nvPicPr>
        <p:blipFill>
          <a:blip r:embed="rId7">
            <a:alphaModFix/>
          </a:blip>
          <a:stretch>
            <a:fillRect/>
          </a:stretch>
        </p:blipFill>
        <p:spPr>
          <a:xfrm>
            <a:off x="5557025" y="532237"/>
            <a:ext cx="3509850" cy="4079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6" st="6"/>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